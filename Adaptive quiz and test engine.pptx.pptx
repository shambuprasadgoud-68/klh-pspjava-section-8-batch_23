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42398" y="4022690"/>
            <a:ext cx="9957435" cy="2262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151515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151515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5270" y="8261528"/>
            <a:ext cx="502602" cy="50260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89690" y="5261619"/>
            <a:ext cx="620399" cy="18847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31604" y="4664779"/>
            <a:ext cx="565427" cy="50260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151515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151515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2454" y="1767350"/>
            <a:ext cx="18099191" cy="8108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151515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36514" y="4206604"/>
            <a:ext cx="11006455" cy="3272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png"/><Relationship Id="rId6" Type="http://schemas.openxmlformats.org/officeDocument/2006/relationships/image" Target="../media/image14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image" Target="../media/image17.jpg"/><Relationship Id="rId10" Type="http://schemas.openxmlformats.org/officeDocument/2006/relationships/image" Target="../media/image18.jpg"/><Relationship Id="rId11" Type="http://schemas.openxmlformats.org/officeDocument/2006/relationships/image" Target="../media/image19.jpg"/><Relationship Id="rId12" Type="http://schemas.openxmlformats.org/officeDocument/2006/relationships/image" Target="../media/image20.jpg"/><Relationship Id="rId13" Type="http://schemas.openxmlformats.org/officeDocument/2006/relationships/image" Target="../media/image21.jpg"/><Relationship Id="rId14" Type="http://schemas.openxmlformats.org/officeDocument/2006/relationships/image" Target="../media/image2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5.jpg"/><Relationship Id="rId5" Type="http://schemas.openxmlformats.org/officeDocument/2006/relationships/image" Target="../media/image26.jpg"/><Relationship Id="rId6" Type="http://schemas.openxmlformats.org/officeDocument/2006/relationships/image" Target="../media/image27.jpg"/><Relationship Id="rId7" Type="http://schemas.openxmlformats.org/officeDocument/2006/relationships/image" Target="../media/image28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jpg"/><Relationship Id="rId5" Type="http://schemas.openxmlformats.org/officeDocument/2006/relationships/image" Target="../media/image36.png"/><Relationship Id="rId6" Type="http://schemas.openxmlformats.org/officeDocument/2006/relationships/image" Target="../media/image37.jp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jpg"/><Relationship Id="rId10" Type="http://schemas.openxmlformats.org/officeDocument/2006/relationships/image" Target="../media/image41.jpg"/><Relationship Id="rId11" Type="http://schemas.openxmlformats.org/officeDocument/2006/relationships/hyperlink" Target="https://www.lovemytest.com/images/howit4a.jpg" TargetMode="External"/><Relationship Id="rId12" Type="http://schemas.openxmlformats.org/officeDocument/2006/relationships/hyperlink" Target="http://www.lovemytest.com/" TargetMode="External"/><Relationship Id="rId13" Type="http://schemas.openxmlformats.org/officeDocument/2006/relationships/hyperlink" Target="https://reaItraining.co.uk/wp/wp" TargetMode="External"/><Relationship Id="rId14" Type="http://schemas.openxmlformats.org/officeDocument/2006/relationships/hyperlink" Target="https://cdn.arabsstock.com/uploads/images/367687/thumbnail/1759658704tepsfjrh2a" TargetMode="External"/><Relationship Id="rId15" Type="http://schemas.openxmlformats.org/officeDocument/2006/relationships/hyperlink" Target="https://f1000research-files.f1000.com/manuscripts/202518/0bb4e00d" TargetMode="External"/><Relationship Id="rId16" Type="http://schemas.openxmlformats.org/officeDocument/2006/relationships/hyperlink" Target="https://devbIogs.microsoft.com/java/wp" TargetMode="External"/><Relationship Id="rId17" Type="http://schemas.openxmlformats.org/officeDocument/2006/relationships/hyperlink" Target="https://cdn.dribbbIe.com/userupIoad/42039150/file/original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3944" y="3361154"/>
            <a:ext cx="7445375" cy="1044575"/>
          </a:xfrm>
          <a:custGeom>
            <a:avLst/>
            <a:gdLst/>
            <a:ahLst/>
            <a:cxnLst/>
            <a:rect l="l" t="t" r="r" b="b"/>
            <a:pathLst>
              <a:path w="7445375" h="1044575">
                <a:moveTo>
                  <a:pt x="7444799" y="1044470"/>
                </a:moveTo>
                <a:lnTo>
                  <a:pt x="0" y="1044470"/>
                </a:lnTo>
                <a:lnTo>
                  <a:pt x="0" y="0"/>
                </a:lnTo>
                <a:lnTo>
                  <a:pt x="7444799" y="0"/>
                </a:lnTo>
                <a:lnTo>
                  <a:pt x="7444799" y="1044470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306636" y="2905404"/>
            <a:ext cx="7452359" cy="153733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900" spc="-125">
                <a:solidFill>
                  <a:srgbClr val="FFFFFF"/>
                </a:solidFill>
                <a:latin typeface="Trebuchet MS"/>
                <a:cs typeface="Trebuchet MS"/>
              </a:rPr>
              <a:t>Adaptïve</a:t>
            </a:r>
            <a:r>
              <a:rPr dirty="0" sz="9900" spc="-5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9900" spc="-20">
                <a:solidFill>
                  <a:srgbClr val="FFFFFF"/>
                </a:solidFill>
                <a:latin typeface="Trebuchet MS"/>
                <a:cs typeface="Trebuchet MS"/>
              </a:rPr>
              <a:t>guïz</a:t>
            </a:r>
            <a:endParaRPr sz="99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79928" y="4601953"/>
            <a:ext cx="8536940" cy="1076325"/>
          </a:xfrm>
          <a:custGeom>
            <a:avLst/>
            <a:gdLst/>
            <a:ahLst/>
            <a:cxnLst/>
            <a:rect l="l" t="t" r="r" b="b"/>
            <a:pathLst>
              <a:path w="8536940" h="1076325">
                <a:moveTo>
                  <a:pt x="8536389" y="1075883"/>
                </a:moveTo>
                <a:lnTo>
                  <a:pt x="0" y="1075883"/>
                </a:lnTo>
                <a:lnTo>
                  <a:pt x="0" y="0"/>
                </a:lnTo>
                <a:lnTo>
                  <a:pt x="8536389" y="0"/>
                </a:lnTo>
                <a:lnTo>
                  <a:pt x="8536389" y="1075883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730143" y="4178271"/>
            <a:ext cx="8544560" cy="1517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800" spc="-114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9800" spc="-5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800" spc="-440">
                <a:solidFill>
                  <a:srgbClr val="FFFFFF"/>
                </a:solidFill>
                <a:latin typeface="Arial MT"/>
                <a:cs typeface="Arial MT"/>
              </a:rPr>
              <a:t>Test</a:t>
            </a:r>
            <a:r>
              <a:rPr dirty="0" sz="98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800" spc="-484">
                <a:solidFill>
                  <a:srgbClr val="FFFFFF"/>
                </a:solidFill>
                <a:latin typeface="Arial MT"/>
                <a:cs typeface="Arial MT"/>
              </a:rPr>
              <a:t>Engïne</a:t>
            </a:r>
            <a:endParaRPr sz="98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30207" y="7036434"/>
            <a:ext cx="1405890" cy="180975"/>
          </a:xfrm>
          <a:custGeom>
            <a:avLst/>
            <a:gdLst/>
            <a:ahLst/>
            <a:cxnLst/>
            <a:rect l="l" t="t" r="r" b="b"/>
            <a:pathLst>
              <a:path w="1405890" h="180975">
                <a:moveTo>
                  <a:pt x="1405716" y="180622"/>
                </a:moveTo>
                <a:lnTo>
                  <a:pt x="0" y="180622"/>
                </a:lnTo>
                <a:lnTo>
                  <a:pt x="0" y="0"/>
                </a:lnTo>
                <a:lnTo>
                  <a:pt x="1405716" y="0"/>
                </a:lnTo>
                <a:lnTo>
                  <a:pt x="1405716" y="180622"/>
                </a:lnTo>
                <a:close/>
              </a:path>
            </a:pathLst>
          </a:custGeom>
          <a:solidFill>
            <a:srgbClr val="0511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222924" y="6959600"/>
            <a:ext cx="14325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0">
                <a:solidFill>
                  <a:srgbClr val="5B6779"/>
                </a:solidFill>
                <a:latin typeface="Arial MT"/>
                <a:cs typeface="Arial MT"/>
              </a:rPr>
              <a:t>S</a:t>
            </a:r>
            <a:r>
              <a:rPr dirty="0" sz="1800" spc="-225">
                <a:solidFill>
                  <a:srgbClr val="5B6779"/>
                </a:solidFill>
                <a:latin typeface="Arial MT"/>
                <a:cs typeface="Arial MT"/>
              </a:rPr>
              <a:t> </a:t>
            </a:r>
            <a:r>
              <a:rPr dirty="0" sz="1800" spc="-55">
                <a:solidFill>
                  <a:srgbClr val="566272"/>
                </a:solidFill>
                <a:latin typeface="Arial MT"/>
                <a:cs typeface="Arial MT"/>
              </a:rPr>
              <a:t>T</a:t>
            </a:r>
            <a:r>
              <a:rPr dirty="0" sz="1800" spc="-220">
                <a:solidFill>
                  <a:srgbClr val="566272"/>
                </a:solidFill>
                <a:latin typeface="Arial MT"/>
                <a:cs typeface="Arial MT"/>
              </a:rPr>
              <a:t> </a:t>
            </a:r>
            <a:r>
              <a:rPr dirty="0" sz="1800" spc="-65">
                <a:solidFill>
                  <a:srgbClr val="5E6E85"/>
                </a:solidFill>
                <a:latin typeface="Arial MT"/>
                <a:cs typeface="Arial MT"/>
              </a:rPr>
              <a:t>U</a:t>
            </a:r>
            <a:r>
              <a:rPr dirty="0" sz="1800" spc="-250">
                <a:solidFill>
                  <a:srgbClr val="5E6E85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95A8B8"/>
                </a:solidFill>
                <a:latin typeface="Arial MT"/>
                <a:cs typeface="Arial MT"/>
              </a:rPr>
              <a:t>D</a:t>
            </a:r>
            <a:r>
              <a:rPr dirty="0" sz="1800" spc="-25">
                <a:solidFill>
                  <a:srgbClr val="97A7BC"/>
                </a:solidFill>
                <a:latin typeface="Arial MT"/>
                <a:cs typeface="Arial MT"/>
              </a:rPr>
              <a:t>E</a:t>
            </a:r>
            <a:r>
              <a:rPr dirty="0" sz="1800" spc="-105">
                <a:solidFill>
                  <a:srgbClr val="97A7BC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9AA5BA"/>
                </a:solidFill>
                <a:latin typeface="Arial MT"/>
                <a:cs typeface="Arial MT"/>
              </a:rPr>
              <a:t>N</a:t>
            </a:r>
            <a:r>
              <a:rPr dirty="0" sz="1800" spc="-110">
                <a:solidFill>
                  <a:srgbClr val="9AA5BA"/>
                </a:solidFill>
                <a:latin typeface="Arial MT"/>
                <a:cs typeface="Arial MT"/>
              </a:rPr>
              <a:t> </a:t>
            </a:r>
            <a:r>
              <a:rPr dirty="0" sz="1800" spc="-130">
                <a:solidFill>
                  <a:srgbClr val="AFAFAF"/>
                </a:solidFill>
                <a:latin typeface="Arial MT"/>
                <a:cs typeface="Arial MT"/>
              </a:rPr>
              <a:t>T</a:t>
            </a:r>
            <a:r>
              <a:rPr dirty="0" sz="1800" spc="-15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1800" spc="-65">
                <a:solidFill>
                  <a:srgbClr val="313D52"/>
                </a:solidFill>
                <a:latin typeface="Arial MT"/>
                <a:cs typeface="Arial MT"/>
              </a:rPr>
              <a:t>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455118" y="7036434"/>
            <a:ext cx="2081530" cy="180975"/>
          </a:xfrm>
          <a:custGeom>
            <a:avLst/>
            <a:gdLst/>
            <a:ahLst/>
            <a:cxnLst/>
            <a:rect l="l" t="t" r="r" b="b"/>
            <a:pathLst>
              <a:path w="2081530" h="180975">
                <a:moveTo>
                  <a:pt x="2081088" y="180622"/>
                </a:moveTo>
                <a:lnTo>
                  <a:pt x="0" y="180622"/>
                </a:lnTo>
                <a:lnTo>
                  <a:pt x="0" y="0"/>
                </a:lnTo>
                <a:lnTo>
                  <a:pt x="2081088" y="0"/>
                </a:lnTo>
                <a:lnTo>
                  <a:pt x="2081088" y="180622"/>
                </a:lnTo>
                <a:close/>
              </a:path>
            </a:pathLst>
          </a:custGeom>
          <a:solidFill>
            <a:srgbClr val="0A18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2439332" y="6959600"/>
            <a:ext cx="20974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647087"/>
                </a:solidFill>
                <a:latin typeface="Arial MT"/>
                <a:cs typeface="Arial MT"/>
              </a:rPr>
              <a:t>FAC</a:t>
            </a:r>
            <a:r>
              <a:rPr dirty="0" sz="1800" spc="-215">
                <a:solidFill>
                  <a:srgbClr val="647087"/>
                </a:solidFill>
                <a:latin typeface="Arial MT"/>
                <a:cs typeface="Arial MT"/>
              </a:rPr>
              <a:t> </a:t>
            </a:r>
            <a:r>
              <a:rPr dirty="0" sz="1800" spc="-65">
                <a:solidFill>
                  <a:srgbClr val="59667E"/>
                </a:solidFill>
                <a:latin typeface="Arial MT"/>
                <a:cs typeface="Arial MT"/>
              </a:rPr>
              <a:t>U</a:t>
            </a:r>
            <a:r>
              <a:rPr dirty="0" sz="1800" spc="-245">
                <a:solidFill>
                  <a:srgbClr val="59667E"/>
                </a:solidFill>
                <a:latin typeface="Arial MT"/>
                <a:cs typeface="Arial MT"/>
              </a:rPr>
              <a:t> </a:t>
            </a:r>
            <a:r>
              <a:rPr dirty="0" sz="1800" spc="-100">
                <a:solidFill>
                  <a:srgbClr val="677487"/>
                </a:solidFill>
                <a:latin typeface="Arial MT"/>
                <a:cs typeface="Arial MT"/>
              </a:rPr>
              <a:t>L</a:t>
            </a:r>
            <a:r>
              <a:rPr dirty="0" sz="1800" spc="-200">
                <a:solidFill>
                  <a:srgbClr val="677487"/>
                </a:solidFill>
                <a:latin typeface="Arial MT"/>
                <a:cs typeface="Arial MT"/>
              </a:rPr>
              <a:t> </a:t>
            </a:r>
            <a:r>
              <a:rPr dirty="0" sz="1800" spc="-130">
                <a:solidFill>
                  <a:srgbClr val="9099AC"/>
                </a:solidFill>
                <a:latin typeface="Arial MT"/>
                <a:cs typeface="Arial MT"/>
              </a:rPr>
              <a:t>T</a:t>
            </a:r>
            <a:r>
              <a:rPr dirty="0" sz="1800" spc="-85">
                <a:solidFill>
                  <a:srgbClr val="9099AC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A3A3A3"/>
                </a:solidFill>
                <a:latin typeface="Arial MT"/>
                <a:cs typeface="Arial MT"/>
              </a:rPr>
              <a:t>Y</a:t>
            </a:r>
            <a:r>
              <a:rPr dirty="0" sz="1800" spc="395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1800" spc="-204">
                <a:solidFill>
                  <a:srgbClr val="5D6979"/>
                </a:solidFill>
                <a:latin typeface="Arial MT"/>
                <a:cs typeface="Arial MT"/>
              </a:rPr>
              <a:t>G</a:t>
            </a:r>
            <a:r>
              <a:rPr dirty="0" sz="1800" spc="-145">
                <a:solidFill>
                  <a:srgbClr val="5D6979"/>
                </a:solidFill>
                <a:latin typeface="Arial MT"/>
                <a:cs typeface="Arial MT"/>
              </a:rPr>
              <a:t> </a:t>
            </a:r>
            <a:r>
              <a:rPr dirty="0" sz="1800" spc="65">
                <a:solidFill>
                  <a:srgbClr val="626E82"/>
                </a:solidFill>
                <a:latin typeface="Arial MT"/>
                <a:cs typeface="Arial MT"/>
              </a:rPr>
              <a:t>U</a:t>
            </a:r>
            <a:r>
              <a:rPr dirty="0" sz="1800" spc="65">
                <a:solidFill>
                  <a:srgbClr val="939AAF"/>
                </a:solidFill>
                <a:latin typeface="Arial MT"/>
                <a:cs typeface="Arial MT"/>
              </a:rPr>
              <a:t>I</a:t>
            </a:r>
            <a:r>
              <a:rPr dirty="0" sz="1800" spc="-204">
                <a:solidFill>
                  <a:srgbClr val="939AAF"/>
                </a:solidFill>
                <a:latin typeface="Arial MT"/>
                <a:cs typeface="Arial MT"/>
              </a:rPr>
              <a:t> </a:t>
            </a:r>
            <a:r>
              <a:rPr dirty="0" sz="1800" spc="-125">
                <a:solidFill>
                  <a:srgbClr val="647082"/>
                </a:solidFill>
                <a:latin typeface="Arial MT"/>
                <a:cs typeface="Arial MT"/>
              </a:rPr>
              <a:t>D</a:t>
            </a:r>
            <a:r>
              <a:rPr dirty="0" sz="1800" spc="-204">
                <a:solidFill>
                  <a:srgbClr val="647082"/>
                </a:solidFill>
                <a:latin typeface="Arial MT"/>
                <a:cs typeface="Arial MT"/>
              </a:rPr>
              <a:t> </a:t>
            </a:r>
            <a:r>
              <a:rPr dirty="0" sz="1800" spc="-145">
                <a:solidFill>
                  <a:srgbClr val="677487"/>
                </a:solidFill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45913" y="7397680"/>
            <a:ext cx="6180455" cy="699135"/>
          </a:xfrm>
          <a:custGeom>
            <a:avLst/>
            <a:gdLst/>
            <a:ahLst/>
            <a:cxnLst/>
            <a:rect l="l" t="t" r="r" b="b"/>
            <a:pathLst>
              <a:path w="6180455" h="699134">
                <a:moveTo>
                  <a:pt x="6180440" y="698931"/>
                </a:moveTo>
                <a:lnTo>
                  <a:pt x="0" y="698931"/>
                </a:lnTo>
                <a:lnTo>
                  <a:pt x="0" y="0"/>
                </a:lnTo>
                <a:lnTo>
                  <a:pt x="6180440" y="0"/>
                </a:lnTo>
                <a:lnTo>
                  <a:pt x="6180440" y="698931"/>
                </a:lnTo>
                <a:close/>
              </a:path>
            </a:pathLst>
          </a:custGeom>
          <a:solidFill>
            <a:srgbClr val="0711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221502" y="7299904"/>
            <a:ext cx="6174740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-185">
                <a:solidFill>
                  <a:srgbClr val="FFFFFF"/>
                </a:solidFill>
                <a:latin typeface="Arial MT"/>
                <a:cs typeface="Arial MT"/>
              </a:rPr>
              <a:t>N.SHAMBU</a:t>
            </a:r>
            <a:r>
              <a:rPr dirty="0" sz="2800" spc="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75">
                <a:solidFill>
                  <a:srgbClr val="FFFFFF"/>
                </a:solidFill>
                <a:latin typeface="Arial MT"/>
                <a:cs typeface="Arial MT"/>
              </a:rPr>
              <a:t>PRASAD</a:t>
            </a:r>
            <a:r>
              <a:rPr dirty="0" sz="2800" spc="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300">
                <a:solidFill>
                  <a:srgbClr val="FFFFFF"/>
                </a:solidFill>
                <a:latin typeface="Arial MT"/>
                <a:cs typeface="Arial MT"/>
              </a:rPr>
              <a:t>GOUD</a:t>
            </a:r>
            <a:r>
              <a:rPr dirty="0" sz="2800" spc="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70">
                <a:solidFill>
                  <a:srgbClr val="FFFFFF"/>
                </a:solidFill>
                <a:latin typeface="Arial MT"/>
                <a:cs typeface="Arial MT"/>
              </a:rPr>
              <a:t>(2620080119)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455118" y="7429093"/>
            <a:ext cx="2411095" cy="322580"/>
          </a:xfrm>
          <a:custGeom>
            <a:avLst/>
            <a:gdLst/>
            <a:ahLst/>
            <a:cxnLst/>
            <a:rect l="l" t="t" r="r" b="b"/>
            <a:pathLst>
              <a:path w="2411094" h="322579">
                <a:moveTo>
                  <a:pt x="241092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410921" y="0"/>
                </a:lnTo>
                <a:lnTo>
                  <a:pt x="2410921" y="321979"/>
                </a:lnTo>
                <a:close/>
              </a:path>
            </a:pathLst>
          </a:custGeom>
          <a:solidFill>
            <a:srgbClr val="0C18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2440714" y="7332626"/>
            <a:ext cx="2418715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>
                <a:solidFill>
                  <a:srgbClr val="FFFFFF"/>
                </a:solidFill>
                <a:latin typeface="Arial MT"/>
                <a:cs typeface="Arial MT"/>
              </a:rPr>
              <a:t>Gopi</a:t>
            </a:r>
            <a:r>
              <a:rPr dirty="0" sz="2550" spc="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FFFFFF"/>
                </a:solidFill>
                <a:latin typeface="Arial MT"/>
                <a:cs typeface="Arial MT"/>
              </a:rPr>
              <a:t>Krishna</a:t>
            </a:r>
            <a:r>
              <a:rPr dirty="0" sz="2550" spc="2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FFFFFF"/>
                </a:solidFill>
                <a:latin typeface="Arial MT"/>
                <a:cs typeface="Arial MT"/>
              </a:rPr>
              <a:t>Sir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22554" y="7676856"/>
            <a:ext cx="3577590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-300">
                <a:solidFill>
                  <a:srgbClr val="FFFFFF"/>
                </a:solidFill>
                <a:latin typeface="Arial MT"/>
                <a:cs typeface="Arial MT"/>
              </a:rPr>
              <a:t>B.SRIKAR</a:t>
            </a:r>
            <a:r>
              <a:rPr dirty="0" sz="2800" spc="4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20">
                <a:solidFill>
                  <a:srgbClr val="FFFFFF"/>
                </a:solidFill>
                <a:latin typeface="Arial MT"/>
                <a:cs typeface="Arial MT"/>
              </a:rPr>
              <a:t>(2620030677)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97348" y="4115446"/>
            <a:ext cx="267398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60">
                <a:solidFill>
                  <a:srgbClr val="2D62F2"/>
                </a:solidFill>
                <a:latin typeface="Arial MT"/>
                <a:cs typeface="Arial MT"/>
              </a:rPr>
              <a:t>01.</a:t>
            </a:r>
            <a:r>
              <a:rPr dirty="0" sz="2050" spc="120">
                <a:solidFill>
                  <a:srgbClr val="2D62F2"/>
                </a:solidFill>
                <a:latin typeface="Arial MT"/>
                <a:cs typeface="Arial MT"/>
              </a:rPr>
              <a:t> </a:t>
            </a:r>
            <a:r>
              <a:rPr dirty="0" sz="2050" spc="70">
                <a:solidFill>
                  <a:srgbClr val="2669DB"/>
                </a:solidFill>
                <a:latin typeface="Arial MT"/>
                <a:cs typeface="Arial MT"/>
              </a:rPr>
              <a:t>I</a:t>
            </a:r>
            <a:r>
              <a:rPr dirty="0" sz="2050" spc="70">
                <a:solidFill>
                  <a:srgbClr val="2D62E2"/>
                </a:solidFill>
                <a:latin typeface="Arial MT"/>
                <a:cs typeface="Arial MT"/>
              </a:rPr>
              <a:t>NTRODU</a:t>
            </a:r>
            <a:r>
              <a:rPr dirty="0" sz="2050" spc="-275">
                <a:solidFill>
                  <a:srgbClr val="2D62E2"/>
                </a:solidFill>
                <a:latin typeface="Arial MT"/>
                <a:cs typeface="Arial MT"/>
              </a:rPr>
              <a:t> </a:t>
            </a:r>
            <a:r>
              <a:rPr dirty="0" sz="2050" spc="105">
                <a:solidFill>
                  <a:srgbClr val="2F56C8"/>
                </a:solidFill>
                <a:latin typeface="Arial MT"/>
                <a:cs typeface="Arial MT"/>
              </a:rPr>
              <a:t>CTI</a:t>
            </a:r>
            <a:r>
              <a:rPr dirty="0" sz="2050" spc="-380">
                <a:solidFill>
                  <a:srgbClr val="2F56C8"/>
                </a:solidFill>
                <a:latin typeface="Arial MT"/>
                <a:cs typeface="Arial MT"/>
              </a:rPr>
              <a:t> </a:t>
            </a:r>
            <a:r>
              <a:rPr dirty="0" sz="2050" spc="-25">
                <a:solidFill>
                  <a:srgbClr val="3B62DD"/>
                </a:solidFill>
                <a:latin typeface="Arial MT"/>
                <a:cs typeface="Arial MT"/>
              </a:rPr>
              <a:t>ON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8374" y="4686109"/>
            <a:ext cx="7639684" cy="24618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5650" spc="315">
                <a:solidFill>
                  <a:srgbClr val="161616"/>
                </a:solidFill>
                <a:latin typeface="Arial MT"/>
                <a:cs typeface="Arial MT"/>
              </a:rPr>
              <a:t>Dgnamic</a:t>
            </a:r>
            <a:r>
              <a:rPr dirty="0" sz="5650" spc="50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5650" spc="225">
                <a:solidFill>
                  <a:srgbClr val="0F0F0F"/>
                </a:solidFill>
                <a:latin typeface="Arial MT"/>
                <a:cs typeface="Arial MT"/>
              </a:rPr>
              <a:t>Assessment</a:t>
            </a:r>
            <a:endParaRPr sz="5650">
              <a:latin typeface="Arial MT"/>
              <a:cs typeface="Arial MT"/>
            </a:endParaRPr>
          </a:p>
          <a:p>
            <a:pPr marL="38735" marR="2063114" indent="-635">
              <a:lnSpc>
                <a:spcPct val="157200"/>
              </a:lnSpc>
              <a:spcBef>
                <a:spcPts val="1255"/>
              </a:spcBef>
            </a:pPr>
            <a:r>
              <a:rPr dirty="0" sz="2950">
                <a:solidFill>
                  <a:srgbClr val="4D4D4D"/>
                </a:solidFill>
                <a:latin typeface="Arial MT"/>
                <a:cs typeface="Arial MT"/>
              </a:rPr>
              <a:t>Real-time</a:t>
            </a:r>
            <a:r>
              <a:rPr dirty="0" sz="2950" spc="62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950" spc="125">
                <a:solidFill>
                  <a:srgbClr val="4F4F4F"/>
                </a:solidFill>
                <a:latin typeface="Arial MT"/>
                <a:cs typeface="Arial MT"/>
              </a:rPr>
              <a:t>difficulty</a:t>
            </a:r>
            <a:r>
              <a:rPr dirty="0" sz="2950" spc="39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950" spc="65">
                <a:solidFill>
                  <a:srgbClr val="3F3F3F"/>
                </a:solidFill>
                <a:latin typeface="Arial MT"/>
                <a:cs typeface="Arial MT"/>
              </a:rPr>
              <a:t>adjustment. </a:t>
            </a:r>
            <a:r>
              <a:rPr dirty="0" sz="2950" spc="60">
                <a:solidFill>
                  <a:srgbClr val="4B4B4B"/>
                </a:solidFill>
                <a:latin typeface="Arial MT"/>
                <a:cs typeface="Arial MT"/>
              </a:rPr>
              <a:t>Precision</a:t>
            </a:r>
            <a:r>
              <a:rPr dirty="0" sz="2950" spc="33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950" spc="50">
                <a:solidFill>
                  <a:srgbClr val="444444"/>
                </a:solidFill>
                <a:latin typeface="Arial MT"/>
                <a:cs typeface="Arial MT"/>
              </a:rPr>
              <a:t>skill</a:t>
            </a:r>
            <a:r>
              <a:rPr dirty="0" sz="2950" spc="26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424242"/>
                </a:solidFill>
                <a:latin typeface="Arial MT"/>
                <a:cs typeface="Arial MT"/>
              </a:rPr>
              <a:t>evaluation.</a:t>
            </a:r>
            <a:endParaRPr sz="2950">
              <a:latin typeface="Arial MT"/>
              <a:cs typeface="Arial MT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57255" y="0"/>
            <a:ext cx="9046844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11014037" y="311897"/>
            <a:ext cx="264033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>
                <a:latin typeface="Arial MT"/>
                <a:cs typeface="Arial MT"/>
              </a:rPr>
              <a:t>I</a:t>
            </a:r>
            <a:r>
              <a:rPr dirty="0" sz="2550" spc="190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Scale</a:t>
            </a:r>
            <a:r>
              <a:rPr dirty="0" sz="2550" spc="150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for</a:t>
            </a:r>
            <a:r>
              <a:rPr dirty="0" sz="2550" spc="-30">
                <a:latin typeface="Arial MT"/>
                <a:cs typeface="Arial MT"/>
              </a:rPr>
              <a:t>  </a:t>
            </a:r>
            <a:r>
              <a:rPr dirty="0" sz="2550" spc="95">
                <a:latin typeface="Arial MT"/>
                <a:cs typeface="Arial MT"/>
              </a:rPr>
              <a:t>Anger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510681" y="311897"/>
            <a:ext cx="4594225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80">
                <a:latin typeface="Arial MT"/>
                <a:cs typeface="Arial MT"/>
              </a:rPr>
              <a:t>Example</a:t>
            </a:r>
            <a:r>
              <a:rPr dirty="0" sz="2550" spc="260">
                <a:latin typeface="Arial MT"/>
                <a:cs typeface="Arial MT"/>
              </a:rPr>
              <a:t> </a:t>
            </a:r>
            <a:r>
              <a:rPr dirty="0" sz="2550" spc="105">
                <a:latin typeface="Arial MT"/>
                <a:cs typeface="Arial MT"/>
              </a:rPr>
              <a:t>5-</a:t>
            </a:r>
            <a:r>
              <a:rPr dirty="0" sz="2550" spc="110">
                <a:latin typeface="Arial MT"/>
                <a:cs typeface="Arial MT"/>
              </a:rPr>
              <a:t>Point</a:t>
            </a:r>
            <a:r>
              <a:rPr dirty="0" sz="2550" spc="254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Scale</a:t>
            </a:r>
            <a:r>
              <a:rPr dirty="0" sz="2550" spc="190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for</a:t>
            </a:r>
            <a:r>
              <a:rPr dirty="0" sz="2550" spc="480">
                <a:latin typeface="Arial MT"/>
                <a:cs typeface="Arial MT"/>
              </a:rPr>
              <a:t> </a:t>
            </a:r>
            <a:r>
              <a:rPr dirty="0" sz="2550" spc="-135">
                <a:latin typeface="Arial MT"/>
                <a:cs typeface="Arial MT"/>
              </a:rPr>
              <a:t>I"1‹</a:t>
            </a:r>
            <a:endParaRPr sz="2550">
              <a:latin typeface="Arial MT"/>
              <a:cs typeface="Arial MT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57255" y="1256506"/>
            <a:ext cx="3557483" cy="799452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627796" y="1013058"/>
            <a:ext cx="4476303" cy="818299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36617" y="6372842"/>
            <a:ext cx="1005205" cy="0"/>
          </a:xfrm>
          <a:custGeom>
            <a:avLst/>
            <a:gdLst/>
            <a:ahLst/>
            <a:cxnLst/>
            <a:rect l="l" t="t" r="r" b="b"/>
            <a:pathLst>
              <a:path w="1005205" h="0">
                <a:moveTo>
                  <a:pt x="0" y="0"/>
                </a:moveTo>
                <a:lnTo>
                  <a:pt x="1005205" y="0"/>
                </a:lnTo>
              </a:path>
            </a:pathLst>
          </a:custGeom>
          <a:ln w="39265">
            <a:solidFill>
              <a:srgbClr val="2860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82024" y="2212329"/>
            <a:ext cx="8691880" cy="678942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26670">
              <a:lnSpc>
                <a:spcPct val="100000"/>
              </a:lnSpc>
              <a:spcBef>
                <a:spcPts val="650"/>
              </a:spcBef>
            </a:pPr>
            <a:r>
              <a:rPr dirty="0" sz="1900" spc="-254">
                <a:solidFill>
                  <a:srgbClr val="2B62F2"/>
                </a:solidFill>
                <a:latin typeface="Arial MT"/>
                <a:cs typeface="Arial MT"/>
              </a:rPr>
              <a:t>O</a:t>
            </a:r>
            <a:r>
              <a:rPr dirty="0" sz="1900" spc="-245">
                <a:solidFill>
                  <a:srgbClr val="2B62F2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1A62DB"/>
                </a:solidFill>
                <a:latin typeface="Arial MT"/>
                <a:cs typeface="Arial MT"/>
              </a:rPr>
              <a:t>2.</a:t>
            </a:r>
            <a:r>
              <a:rPr dirty="0" sz="1900" spc="50">
                <a:solidFill>
                  <a:srgbClr val="1A62DB"/>
                </a:solidFill>
                <a:latin typeface="Arial MT"/>
                <a:cs typeface="Arial MT"/>
              </a:rPr>
              <a:t>  </a:t>
            </a:r>
            <a:r>
              <a:rPr dirty="0" sz="1900" spc="-35">
                <a:solidFill>
                  <a:srgbClr val="3367DF"/>
                </a:solidFill>
                <a:latin typeface="Arial MT"/>
                <a:cs typeface="Arial MT"/>
              </a:rPr>
              <a:t>PR</a:t>
            </a:r>
            <a:r>
              <a:rPr dirty="0" sz="1900" spc="-229">
                <a:solidFill>
                  <a:srgbClr val="3367DF"/>
                </a:solidFill>
                <a:latin typeface="Arial MT"/>
                <a:cs typeface="Arial MT"/>
              </a:rPr>
              <a:t> </a:t>
            </a:r>
            <a:r>
              <a:rPr dirty="0" sz="1900" spc="70">
                <a:solidFill>
                  <a:srgbClr val="2459F4"/>
                </a:solidFill>
                <a:latin typeface="Arial MT"/>
                <a:cs typeface="Arial MT"/>
              </a:rPr>
              <a:t>OBLE</a:t>
            </a:r>
            <a:r>
              <a:rPr dirty="0" sz="1900" spc="-300">
                <a:solidFill>
                  <a:srgbClr val="2459F4"/>
                </a:solidFill>
                <a:latin typeface="Arial MT"/>
                <a:cs typeface="Arial MT"/>
              </a:rPr>
              <a:t> </a:t>
            </a:r>
            <a:r>
              <a:rPr dirty="0" sz="1900" spc="95">
                <a:solidFill>
                  <a:srgbClr val="2A64E8"/>
                </a:solidFill>
                <a:latin typeface="Arial MT"/>
                <a:cs typeface="Arial MT"/>
              </a:rPr>
              <a:t>M</a:t>
            </a:r>
            <a:r>
              <a:rPr dirty="0" sz="1900" spc="375">
                <a:solidFill>
                  <a:srgbClr val="2A64E8"/>
                </a:solidFill>
                <a:latin typeface="Arial MT"/>
                <a:cs typeface="Arial MT"/>
              </a:rPr>
              <a:t> </a:t>
            </a:r>
            <a:r>
              <a:rPr dirty="0" sz="1900" spc="114">
                <a:solidFill>
                  <a:srgbClr val="245EEF"/>
                </a:solidFill>
                <a:latin typeface="Arial MT"/>
                <a:cs typeface="Arial MT"/>
              </a:rPr>
              <a:t>STAT</a:t>
            </a:r>
            <a:r>
              <a:rPr dirty="0" sz="1900" spc="-285">
                <a:solidFill>
                  <a:srgbClr val="245EE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2466DD"/>
                </a:solidFill>
                <a:latin typeface="Arial MT"/>
                <a:cs typeface="Arial MT"/>
              </a:rPr>
              <a:t>E</a:t>
            </a:r>
            <a:r>
              <a:rPr dirty="0" sz="1900">
                <a:solidFill>
                  <a:srgbClr val="1C57ED"/>
                </a:solidFill>
                <a:latin typeface="Arial MT"/>
                <a:cs typeface="Arial MT"/>
              </a:rPr>
              <a:t>M</a:t>
            </a:r>
            <a:r>
              <a:rPr dirty="0" sz="1900" spc="-105">
                <a:solidFill>
                  <a:srgbClr val="1C57ED"/>
                </a:solidFill>
                <a:latin typeface="Arial MT"/>
                <a:cs typeface="Arial MT"/>
              </a:rPr>
              <a:t> </a:t>
            </a:r>
            <a:r>
              <a:rPr dirty="0" sz="1900" spc="-25">
                <a:solidFill>
                  <a:srgbClr val="1D6DE6"/>
                </a:solidFill>
                <a:latin typeface="Arial MT"/>
                <a:cs typeface="Arial MT"/>
              </a:rPr>
              <a:t>E</a:t>
            </a:r>
            <a:r>
              <a:rPr dirty="0" sz="1900" spc="-25">
                <a:solidFill>
                  <a:srgbClr val="2D67EB"/>
                </a:solidFill>
                <a:latin typeface="Arial MT"/>
                <a:cs typeface="Arial MT"/>
              </a:rPr>
              <a:t>NT</a:t>
            </a: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900">
              <a:latin typeface="Arial MT"/>
              <a:cs typeface="Arial MT"/>
            </a:endParaRPr>
          </a:p>
          <a:p>
            <a:pPr marL="25400" marR="1005205" indent="-13335">
              <a:lnSpc>
                <a:spcPct val="88000"/>
              </a:lnSpc>
              <a:spcBef>
                <a:spcPts val="5"/>
              </a:spcBef>
            </a:pPr>
            <a:r>
              <a:rPr dirty="0" sz="7350" spc="210">
                <a:solidFill>
                  <a:srgbClr val="161616"/>
                </a:solidFill>
                <a:latin typeface="Arial MT"/>
                <a:cs typeface="Arial MT"/>
              </a:rPr>
              <a:t>Static</a:t>
            </a:r>
            <a:r>
              <a:rPr dirty="0" sz="7350" spc="29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7350" spc="275">
                <a:solidFill>
                  <a:srgbClr val="111111"/>
                </a:solidFill>
                <a:latin typeface="Arial MT"/>
                <a:cs typeface="Arial MT"/>
              </a:rPr>
              <a:t>tests</a:t>
            </a:r>
            <a:r>
              <a:rPr dirty="0" sz="7350" spc="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7350" spc="229">
                <a:solidFill>
                  <a:srgbClr val="161616"/>
                </a:solidFill>
                <a:latin typeface="Arial MT"/>
                <a:cs typeface="Arial MT"/>
              </a:rPr>
              <a:t>fail</a:t>
            </a:r>
            <a:r>
              <a:rPr dirty="0" sz="7350" spc="-14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7350" spc="275">
                <a:solidFill>
                  <a:srgbClr val="1A1A1A"/>
                </a:solidFill>
                <a:latin typeface="Arial MT"/>
                <a:cs typeface="Arial MT"/>
              </a:rPr>
              <a:t>to </a:t>
            </a:r>
            <a:r>
              <a:rPr dirty="0" sz="7050">
                <a:solidFill>
                  <a:srgbClr val="131313"/>
                </a:solidFill>
                <a:latin typeface="Arial MT"/>
                <a:cs typeface="Arial MT"/>
              </a:rPr>
              <a:t>measure</a:t>
            </a:r>
            <a:r>
              <a:rPr dirty="0" sz="7050" spc="52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7050" spc="430">
                <a:solidFill>
                  <a:srgbClr val="161616"/>
                </a:solidFill>
                <a:latin typeface="Arial MT"/>
                <a:cs typeface="Arial MT"/>
              </a:rPr>
              <a:t>true </a:t>
            </a:r>
            <a:r>
              <a:rPr dirty="0" sz="7350" spc="190">
                <a:solidFill>
                  <a:srgbClr val="181818"/>
                </a:solidFill>
                <a:latin typeface="Arial MT"/>
                <a:cs typeface="Arial MT"/>
              </a:rPr>
              <a:t>capabilitg.</a:t>
            </a:r>
            <a:endParaRPr sz="7350">
              <a:latin typeface="Arial MT"/>
              <a:cs typeface="Arial MT"/>
            </a:endParaRPr>
          </a:p>
          <a:p>
            <a:pPr marL="24765" marR="424815" indent="-1905">
              <a:lnSpc>
                <a:spcPct val="101299"/>
              </a:lnSpc>
              <a:spcBef>
                <a:spcPts val="8084"/>
              </a:spcBef>
            </a:pPr>
            <a:r>
              <a:rPr dirty="0" sz="2950">
                <a:solidFill>
                  <a:srgbClr val="525252"/>
                </a:solidFill>
                <a:latin typeface="Arial MT"/>
                <a:cs typeface="Arial MT"/>
              </a:rPr>
              <a:t>Fixed</a:t>
            </a:r>
            <a:r>
              <a:rPr dirty="0" sz="2950" spc="32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950" spc="125">
                <a:solidFill>
                  <a:srgbClr val="505050"/>
                </a:solidFill>
                <a:latin typeface="Arial MT"/>
                <a:cs typeface="Arial MT"/>
              </a:rPr>
              <a:t>difficulty</a:t>
            </a:r>
            <a:r>
              <a:rPr dirty="0" sz="2950" spc="30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2950" spc="85">
                <a:solidFill>
                  <a:srgbClr val="4B4B4B"/>
                </a:solidFill>
                <a:latin typeface="Arial MT"/>
                <a:cs typeface="Arial MT"/>
              </a:rPr>
              <a:t>frustrates</a:t>
            </a:r>
            <a:r>
              <a:rPr dirty="0" sz="2950" spc="52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950" spc="85">
                <a:solidFill>
                  <a:srgbClr val="4D4D4D"/>
                </a:solidFill>
                <a:latin typeface="Arial MT"/>
                <a:cs typeface="Arial MT"/>
              </a:rPr>
              <a:t>beginners</a:t>
            </a:r>
            <a:r>
              <a:rPr dirty="0" sz="2950" spc="36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4B6070"/>
                </a:solidFill>
                <a:latin typeface="Arial MT"/>
                <a:cs typeface="Arial MT"/>
              </a:rPr>
              <a:t>and</a:t>
            </a:r>
            <a:r>
              <a:rPr dirty="0" sz="2950" spc="285">
                <a:solidFill>
                  <a:srgbClr val="4B6070"/>
                </a:solidFill>
                <a:latin typeface="Arial MT"/>
                <a:cs typeface="Arial MT"/>
              </a:rPr>
              <a:t> </a:t>
            </a:r>
            <a:r>
              <a:rPr dirty="0" sz="2950" spc="60">
                <a:solidFill>
                  <a:srgbClr val="4D4D4D"/>
                </a:solidFill>
                <a:latin typeface="Arial MT"/>
                <a:cs typeface="Arial MT"/>
              </a:rPr>
              <a:t>bores </a:t>
            </a:r>
            <a:r>
              <a:rPr dirty="0" sz="2950" spc="75">
                <a:solidFill>
                  <a:srgbClr val="4B4B4B"/>
                </a:solidFill>
                <a:latin typeface="Arial MT"/>
                <a:cs typeface="Arial MT"/>
              </a:rPr>
              <a:t>advanced</a:t>
            </a:r>
            <a:r>
              <a:rPr dirty="0" sz="2950" spc="32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4B4B4B"/>
                </a:solidFill>
                <a:latin typeface="Arial MT"/>
                <a:cs typeface="Arial MT"/>
              </a:rPr>
              <a:t>learners.</a:t>
            </a:r>
            <a:endParaRPr sz="2950">
              <a:latin typeface="Arial MT"/>
              <a:cs typeface="Arial MT"/>
            </a:endParaRPr>
          </a:p>
          <a:p>
            <a:pPr marL="31750" marR="5080" indent="-3810">
              <a:lnSpc>
                <a:spcPct val="101299"/>
              </a:lnSpc>
              <a:spcBef>
                <a:spcPts val="1980"/>
              </a:spcBef>
            </a:pPr>
            <a:r>
              <a:rPr dirty="0" sz="2950" spc="190">
                <a:solidFill>
                  <a:srgbClr val="424242"/>
                </a:solidFill>
                <a:latin typeface="Arial MT"/>
                <a:cs typeface="Arial MT"/>
              </a:rPr>
              <a:t>One-</a:t>
            </a:r>
            <a:r>
              <a:rPr dirty="0" sz="2950" spc="140">
                <a:solidFill>
                  <a:srgbClr val="424242"/>
                </a:solidFill>
                <a:latin typeface="Arial MT"/>
                <a:cs typeface="Arial MT"/>
              </a:rPr>
              <a:t>size-</a:t>
            </a:r>
            <a:r>
              <a:rPr dirty="0" sz="2950" spc="105">
                <a:solidFill>
                  <a:srgbClr val="424242"/>
                </a:solidFill>
                <a:latin typeface="Arial MT"/>
                <a:cs typeface="Arial MT"/>
              </a:rPr>
              <a:t>fits-</a:t>
            </a:r>
            <a:r>
              <a:rPr dirty="0" sz="2950" spc="110">
                <a:solidFill>
                  <a:srgbClr val="424242"/>
                </a:solidFill>
                <a:latin typeface="Arial MT"/>
                <a:cs typeface="Arial MT"/>
              </a:rPr>
              <a:t>all</a:t>
            </a:r>
            <a:r>
              <a:rPr dirty="0" sz="2950" spc="4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950" spc="70">
                <a:solidFill>
                  <a:srgbClr val="484848"/>
                </a:solidFill>
                <a:latin typeface="Arial MT"/>
                <a:cs typeface="Arial MT"/>
              </a:rPr>
              <a:t>logic</a:t>
            </a:r>
            <a:r>
              <a:rPr dirty="0" sz="2950" spc="35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950" spc="80">
                <a:solidFill>
                  <a:srgbClr val="4B4B4B"/>
                </a:solidFill>
                <a:latin typeface="Arial MT"/>
                <a:cs typeface="Arial MT"/>
              </a:rPr>
              <a:t>ignores</a:t>
            </a:r>
            <a:r>
              <a:rPr dirty="0" sz="2950" spc="29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950" spc="65">
                <a:solidFill>
                  <a:srgbClr val="505050"/>
                </a:solidFill>
                <a:latin typeface="Arial MT"/>
                <a:cs typeface="Arial MT"/>
              </a:rPr>
              <a:t>individual</a:t>
            </a:r>
            <a:r>
              <a:rPr dirty="0" sz="2950" spc="415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4F4F4F"/>
                </a:solidFill>
                <a:latin typeface="Arial MT"/>
                <a:cs typeface="Arial MT"/>
              </a:rPr>
              <a:t>learning </a:t>
            </a:r>
            <a:r>
              <a:rPr dirty="0" sz="2950" spc="65">
                <a:solidFill>
                  <a:srgbClr val="3D5266"/>
                </a:solidFill>
                <a:latin typeface="Arial MT"/>
                <a:cs typeface="Arial MT"/>
              </a:rPr>
              <a:t>curves.</a:t>
            </a:r>
            <a:endParaRPr sz="295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509907" y="9478768"/>
            <a:ext cx="1578485" cy="14135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017838" y="9873778"/>
            <a:ext cx="2644775" cy="1274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 marR="5080" indent="113030">
              <a:lnSpc>
                <a:spcPct val="111500"/>
              </a:lnSpc>
              <a:spcBef>
                <a:spcPts val="100"/>
              </a:spcBef>
            </a:pPr>
            <a:r>
              <a:rPr dirty="0" sz="2450">
                <a:latin typeface="Arial MT"/>
                <a:cs typeface="Arial MT"/>
              </a:rPr>
              <a:t>t</a:t>
            </a:r>
            <a:r>
              <a:rPr dirty="0" sz="2450" spc="90">
                <a:latin typeface="Arial MT"/>
                <a:cs typeface="Arial MT"/>
              </a:rPr>
              <a:t> </a:t>
            </a:r>
            <a:r>
              <a:rPr dirty="0" sz="2450" spc="-35">
                <a:latin typeface="Arial MT"/>
                <a:cs typeface="Arial MT"/>
              </a:rPr>
              <a:t>Scale</a:t>
            </a:r>
            <a:r>
              <a:rPr dirty="0" sz="2450" spc="-15">
                <a:latin typeface="Arial MT"/>
                <a:cs typeface="Arial MT"/>
              </a:rPr>
              <a:t> </a:t>
            </a:r>
            <a:r>
              <a:rPr dirty="0" sz="2450" spc="75">
                <a:latin typeface="Arial MT"/>
                <a:cs typeface="Arial MT"/>
              </a:rPr>
              <a:t>for</a:t>
            </a:r>
            <a:r>
              <a:rPr dirty="0" sz="2450" spc="-30">
                <a:latin typeface="Arial MT"/>
                <a:cs typeface="Arial MT"/>
              </a:rPr>
              <a:t> </a:t>
            </a:r>
            <a:r>
              <a:rPr dirty="0" sz="2450" spc="-10">
                <a:latin typeface="Arial MT"/>
                <a:cs typeface="Arial MT"/>
              </a:rPr>
              <a:t>anger </a:t>
            </a:r>
            <a:r>
              <a:rPr dirty="0" sz="2450">
                <a:latin typeface="Arial MT"/>
                <a:cs typeface="Arial MT"/>
              </a:rPr>
              <a:t>Empowerment</a:t>
            </a:r>
            <a:r>
              <a:rPr dirty="0" sz="2450" spc="290">
                <a:latin typeface="Arial MT"/>
                <a:cs typeface="Arial MT"/>
              </a:rPr>
              <a:t> </a:t>
            </a:r>
            <a:r>
              <a:rPr dirty="0" sz="2450" spc="-50">
                <a:latin typeface="Arial MT"/>
                <a:cs typeface="Arial MT"/>
              </a:rPr>
              <a:t>see</a:t>
            </a:r>
            <a:endParaRPr sz="2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2450" spc="-170">
                <a:latin typeface="Arial MT"/>
                <a:cs typeface="Arial MT"/>
              </a:rPr>
              <a:t>!s</a:t>
            </a:r>
            <a:r>
              <a:rPr dirty="0" sz="2450" spc="-30">
                <a:latin typeface="Arial MT"/>
                <a:cs typeface="Arial MT"/>
              </a:rPr>
              <a:t> </a:t>
            </a:r>
            <a:r>
              <a:rPr dirty="0" sz="2450" spc="75">
                <a:latin typeface="Arial MT"/>
                <a:cs typeface="Arial MT"/>
              </a:rPr>
              <a:t>for</a:t>
            </a:r>
            <a:r>
              <a:rPr dirty="0" sz="2450" spc="10">
                <a:latin typeface="Arial MT"/>
                <a:cs typeface="Arial MT"/>
              </a:rPr>
              <a:t> </a:t>
            </a:r>
            <a:r>
              <a:rPr dirty="0" sz="2450" spc="-20">
                <a:latin typeface="Arial MT"/>
                <a:cs typeface="Arial MT"/>
              </a:rPr>
              <a:t>link)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132346" y="9831240"/>
            <a:ext cx="4969510" cy="1274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L="12700" marR="5080" indent="985519">
              <a:lnSpc>
                <a:spcPct val="118700"/>
              </a:lnSpc>
              <a:spcBef>
                <a:spcPts val="95"/>
              </a:spcBef>
            </a:pPr>
            <a:r>
              <a:rPr dirty="0" sz="2300">
                <a:latin typeface="Arial MT"/>
                <a:cs typeface="Arial MT"/>
              </a:rPr>
              <a:t>Example</a:t>
            </a:r>
            <a:r>
              <a:rPr dirty="0" sz="2300" spc="254">
                <a:latin typeface="Arial MT"/>
                <a:cs typeface="Arial MT"/>
              </a:rPr>
              <a:t> </a:t>
            </a:r>
            <a:r>
              <a:rPr dirty="0" sz="2300" spc="75">
                <a:latin typeface="Arial MT"/>
                <a:cs typeface="Arial MT"/>
              </a:rPr>
              <a:t>5-Point</a:t>
            </a:r>
            <a:r>
              <a:rPr dirty="0" sz="2300" spc="3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Scale</a:t>
            </a:r>
            <a:r>
              <a:rPr dirty="0" sz="2300" spc="8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for</a:t>
            </a:r>
            <a:r>
              <a:rPr dirty="0" sz="2300" spc="565">
                <a:latin typeface="Arial MT"/>
                <a:cs typeface="Arial MT"/>
              </a:rPr>
              <a:t> </a:t>
            </a:r>
            <a:r>
              <a:rPr dirty="0" sz="2300" spc="-50">
                <a:latin typeface="Arial MT"/>
                <a:cs typeface="Arial MT"/>
              </a:rPr>
              <a:t>m </a:t>
            </a:r>
            <a:r>
              <a:rPr dirty="0" sz="2300" spc="60">
                <a:latin typeface="Arial MT"/>
                <a:cs typeface="Arial MT"/>
              </a:rPr>
              <a:t>personalised</a:t>
            </a:r>
            <a:r>
              <a:rPr dirty="0" sz="2300" spc="80">
                <a:latin typeface="Arial MT"/>
                <a:cs typeface="Arial MT"/>
              </a:rPr>
              <a:t> </a:t>
            </a:r>
            <a:r>
              <a:rPr dirty="0" sz="2300" spc="50">
                <a:latin typeface="Arial MT"/>
                <a:cs typeface="Arial MT"/>
              </a:rPr>
              <a:t>to</a:t>
            </a:r>
            <a:r>
              <a:rPr dirty="0" sz="2300" spc="265">
                <a:latin typeface="Arial MT"/>
                <a:cs typeface="Arial MT"/>
              </a:rPr>
              <a:t> </a:t>
            </a:r>
            <a:r>
              <a:rPr dirty="0" sz="2300" spc="60">
                <a:latin typeface="Arial MT"/>
                <a:cs typeface="Arial MT"/>
              </a:rPr>
              <a:t>an</a:t>
            </a:r>
            <a:r>
              <a:rPr dirty="0" sz="2300" spc="-50">
                <a:latin typeface="Arial MT"/>
                <a:cs typeface="Arial MT"/>
              </a:rPr>
              <a:t> </a:t>
            </a:r>
            <a:r>
              <a:rPr dirty="0" sz="2300" spc="90">
                <a:latin typeface="Arial MT"/>
                <a:cs typeface="Arial MT"/>
              </a:rPr>
              <a:t>individual</a:t>
            </a:r>
            <a:r>
              <a:rPr dirty="0" sz="2300" spc="25">
                <a:latin typeface="Arial MT"/>
                <a:cs typeface="Arial MT"/>
              </a:rPr>
              <a:t> </a:t>
            </a:r>
            <a:r>
              <a:rPr dirty="0" sz="2300" spc="70">
                <a:latin typeface="Arial MT"/>
                <a:cs typeface="Arial MT"/>
              </a:rPr>
              <a:t>pupil's (Source:</a:t>
            </a:r>
            <a:r>
              <a:rPr dirty="0" sz="2300" spc="15">
                <a:latin typeface="Arial MT"/>
                <a:cs typeface="Arial MT"/>
              </a:rPr>
              <a:t> </a:t>
            </a:r>
            <a:r>
              <a:rPr dirty="0" sz="2300" spc="65">
                <a:latin typeface="Arial MT"/>
                <a:cs typeface="Arial MT"/>
              </a:rPr>
              <a:t>OCALI</a:t>
            </a:r>
            <a:r>
              <a:rPr dirty="0" sz="2300" spc="9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see</a:t>
            </a:r>
            <a:r>
              <a:rPr dirty="0" sz="2300" spc="-60">
                <a:latin typeface="Arial MT"/>
                <a:cs typeface="Arial MT"/>
              </a:rPr>
              <a:t> </a:t>
            </a:r>
            <a:r>
              <a:rPr dirty="0" sz="2300" spc="100">
                <a:latin typeface="Arial MT"/>
                <a:cs typeface="Arial MT"/>
              </a:rPr>
              <a:t>refer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71072" y="1147679"/>
            <a:ext cx="4083685" cy="144399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70"/>
              </a:spcBef>
            </a:pPr>
            <a:r>
              <a:rPr dirty="0" sz="2200" spc="95">
                <a:solidFill>
                  <a:srgbClr val="2D67D8"/>
                </a:solidFill>
                <a:latin typeface="Arial MT"/>
                <a:cs typeface="Arial MT"/>
              </a:rPr>
              <a:t>03.</a:t>
            </a:r>
            <a:r>
              <a:rPr dirty="0" sz="2200" spc="210">
                <a:solidFill>
                  <a:srgbClr val="2D67D8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446BE2"/>
                </a:solidFill>
                <a:latin typeface="Arial MT"/>
                <a:cs typeface="Arial MT"/>
              </a:rPr>
              <a:t>OBJECTIVES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dirty="0" sz="5650" spc="105">
                <a:solidFill>
                  <a:srgbClr val="0F0F0F"/>
                </a:solidFill>
                <a:latin typeface="Times New Roman"/>
                <a:cs typeface="Times New Roman"/>
              </a:rPr>
              <a:t>S9stem</a:t>
            </a:r>
            <a:r>
              <a:rPr dirty="0" sz="5650" spc="5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5650" spc="-85">
                <a:solidFill>
                  <a:srgbClr val="131313"/>
                </a:solidFill>
                <a:latin typeface="Times New Roman"/>
                <a:cs typeface="Times New Roman"/>
              </a:rPr>
              <a:t>Goals</a:t>
            </a:r>
            <a:endParaRPr sz="56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56710" y="5092067"/>
            <a:ext cx="3732529" cy="2794000"/>
          </a:xfrm>
          <a:prstGeom prst="rect">
            <a:avLst/>
          </a:prstGeom>
        </p:spPr>
        <p:txBody>
          <a:bodyPr wrap="square" lIns="0" tIns="393065" rIns="0" bIns="0" rtlCol="0" vert="horz">
            <a:spAutoFit/>
          </a:bodyPr>
          <a:lstStyle/>
          <a:p>
            <a:pPr algn="ctr" marL="8890">
              <a:lnSpc>
                <a:spcPct val="100000"/>
              </a:lnSpc>
              <a:spcBef>
                <a:spcPts val="3095"/>
              </a:spcBef>
            </a:pPr>
            <a:r>
              <a:rPr dirty="0" sz="7450" spc="-2320">
                <a:solidFill>
                  <a:srgbClr val="1D5BE8"/>
                </a:solidFill>
                <a:latin typeface="Arial MT"/>
                <a:cs typeface="Arial MT"/>
              </a:rPr>
              <a:t>@</a:t>
            </a:r>
            <a:endParaRPr sz="74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310"/>
              </a:spcBef>
            </a:pPr>
            <a:r>
              <a:rPr dirty="0" sz="3200" spc="-25">
                <a:solidFill>
                  <a:srgbClr val="0C0C0C"/>
                </a:solidFill>
                <a:latin typeface="Arial MT"/>
                <a:cs typeface="Arial MT"/>
              </a:rPr>
              <a:t>Tailored</a:t>
            </a:r>
            <a:r>
              <a:rPr dirty="0" sz="3200" spc="-16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3200" spc="-20">
                <a:solidFill>
                  <a:srgbClr val="0F0F0F"/>
                </a:solidFill>
                <a:latin typeface="Arial MT"/>
                <a:cs typeface="Arial MT"/>
              </a:rPr>
              <a:t>Assessment</a:t>
            </a:r>
            <a:endParaRPr sz="3200">
              <a:latin typeface="Arial MT"/>
              <a:cs typeface="Arial MT"/>
            </a:endParaRPr>
          </a:p>
          <a:p>
            <a:pPr algn="ctr" marL="34925">
              <a:lnSpc>
                <a:spcPct val="100000"/>
              </a:lnSpc>
              <a:spcBef>
                <a:spcPts val="1945"/>
              </a:spcBef>
            </a:pPr>
            <a:r>
              <a:rPr dirty="0" sz="2300">
                <a:solidFill>
                  <a:srgbClr val="424242"/>
                </a:solidFill>
                <a:latin typeface="Arial MT"/>
                <a:cs typeface="Arial MT"/>
              </a:rPr>
              <a:t>Individual</a:t>
            </a:r>
            <a:r>
              <a:rPr dirty="0" sz="2300" spc="254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94949"/>
                </a:solidFill>
                <a:latin typeface="Arial MT"/>
                <a:cs typeface="Arial MT"/>
              </a:rPr>
              <a:t>skill</a:t>
            </a:r>
            <a:r>
              <a:rPr dirty="0" sz="2300" spc="10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444444"/>
                </a:solidFill>
                <a:latin typeface="Arial MT"/>
                <a:cs typeface="Arial MT"/>
              </a:rPr>
              <a:t>mapping.</a:t>
            </a:r>
            <a:endParaRPr sz="2300">
              <a:latin typeface="Arial MT"/>
              <a:cs typeface="Arial MT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16455" y="5811341"/>
            <a:ext cx="471189" cy="62825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5912441" y="4941337"/>
            <a:ext cx="772160" cy="171386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50" spc="-315">
                <a:solidFill>
                  <a:srgbClr val="2462E9"/>
                </a:solidFill>
                <a:latin typeface="Times New Roman"/>
                <a:cs typeface="Times New Roman"/>
              </a:rPr>
              <a:t>r.</a:t>
            </a:r>
            <a:endParaRPr sz="1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77030" y="6771778"/>
            <a:ext cx="4187825" cy="11137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200" spc="100">
                <a:solidFill>
                  <a:srgbClr val="0E0E0E"/>
                </a:solidFill>
                <a:latin typeface="Courier New"/>
                <a:cs typeface="Courier New"/>
              </a:rPr>
              <a:t>MaWmumEnqagement</a:t>
            </a:r>
            <a:endParaRPr sz="3200">
              <a:latin typeface="Courier New"/>
              <a:cs typeface="Courier New"/>
            </a:endParaRPr>
          </a:p>
          <a:p>
            <a:pPr algn="ctr" marR="40005">
              <a:lnSpc>
                <a:spcPct val="100000"/>
              </a:lnSpc>
              <a:spcBef>
                <a:spcPts val="1945"/>
              </a:spcBef>
            </a:pPr>
            <a:r>
              <a:rPr dirty="0" sz="2300">
                <a:solidFill>
                  <a:srgbClr val="494949"/>
                </a:solidFill>
                <a:latin typeface="Arial MT"/>
                <a:cs typeface="Arial MT"/>
              </a:rPr>
              <a:t>Optimal</a:t>
            </a:r>
            <a:r>
              <a:rPr dirty="0" sz="2300" spc="10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D4D4D"/>
                </a:solidFill>
                <a:latin typeface="Arial MT"/>
                <a:cs typeface="Arial MT"/>
              </a:rPr>
              <a:t>challenge</a:t>
            </a:r>
            <a:r>
              <a:rPr dirty="0" sz="2300" spc="24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300" spc="-95">
                <a:solidFill>
                  <a:srgbClr val="4F4F4F"/>
                </a:solidFill>
                <a:latin typeface="Arial MT"/>
                <a:cs typeface="Arial MT"/>
              </a:rPr>
              <a:t>Ie</a:t>
            </a:r>
            <a:r>
              <a:rPr dirty="0" sz="2300" spc="-40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525467"/>
                </a:solidFill>
                <a:latin typeface="Arial MT"/>
                <a:cs typeface="Arial MT"/>
              </a:rPr>
              <a:t>vels.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76284" y="6780286"/>
            <a:ext cx="4328160" cy="11055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R="27305">
              <a:lnSpc>
                <a:spcPct val="100000"/>
              </a:lnSpc>
              <a:spcBef>
                <a:spcPts val="90"/>
              </a:spcBef>
            </a:pPr>
            <a:r>
              <a:rPr dirty="0" sz="3100" spc="140">
                <a:solidFill>
                  <a:srgbClr val="111111"/>
                </a:solidFill>
                <a:latin typeface="Arial MT"/>
                <a:cs typeface="Arial MT"/>
              </a:rPr>
              <a:t>Instant</a:t>
            </a:r>
            <a:r>
              <a:rPr dirty="0" sz="3100" spc="19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3100" spc="55">
                <a:solidFill>
                  <a:srgbClr val="0F0F0F"/>
                </a:solidFill>
                <a:latin typeface="Arial MT"/>
                <a:cs typeface="Arial MT"/>
              </a:rPr>
              <a:t>Analytics</a:t>
            </a:r>
            <a:endParaRPr sz="3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2025"/>
              </a:spcBef>
            </a:pPr>
            <a:r>
              <a:rPr dirty="0" sz="2300" spc="-25">
                <a:solidFill>
                  <a:srgbClr val="494949"/>
                </a:solidFill>
                <a:latin typeface="Arial MT"/>
                <a:cs typeface="Arial MT"/>
              </a:rPr>
              <a:t>Real-</a:t>
            </a:r>
            <a:r>
              <a:rPr dirty="0" sz="2300">
                <a:solidFill>
                  <a:srgbClr val="494949"/>
                </a:solidFill>
                <a:latin typeface="Arial MT"/>
                <a:cs typeface="Arial MT"/>
              </a:rPr>
              <a:t>time</a:t>
            </a:r>
            <a:r>
              <a:rPr dirty="0" sz="2300" spc="55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3D3D3D"/>
                </a:solidFill>
                <a:latin typeface="Arial MT"/>
                <a:cs typeface="Arial MT"/>
              </a:rPr>
              <a:t>performance</a:t>
            </a:r>
            <a:r>
              <a:rPr dirty="0" sz="2300" spc="525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444444"/>
                </a:solidFill>
                <a:latin typeface="Arial MT"/>
                <a:cs typeface="Arial MT"/>
              </a:rPr>
              <a:t>insights.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219613" y="2026505"/>
            <a:ext cx="310261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>
                <a:solidFill>
                  <a:srgbClr val="1F62D6"/>
                </a:solidFill>
                <a:latin typeface="Arial MT"/>
                <a:cs typeface="Arial MT"/>
              </a:rPr>
              <a:t>0</a:t>
            </a:r>
            <a:r>
              <a:rPr dirty="0" sz="2050" spc="-195">
                <a:solidFill>
                  <a:srgbClr val="1F62D6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1559E9"/>
                </a:solidFill>
                <a:latin typeface="Arial MT"/>
                <a:cs typeface="Arial MT"/>
              </a:rPr>
              <a:t>4.</a:t>
            </a:r>
            <a:r>
              <a:rPr dirty="0" sz="2050" spc="290">
                <a:solidFill>
                  <a:srgbClr val="1559E9"/>
                </a:solidFill>
                <a:latin typeface="Arial MT"/>
                <a:cs typeface="Arial MT"/>
              </a:rPr>
              <a:t> </a:t>
            </a:r>
            <a:r>
              <a:rPr dirty="0" sz="2050" spc="80">
                <a:solidFill>
                  <a:srgbClr val="2875E4"/>
                </a:solidFill>
                <a:latin typeface="Arial MT"/>
                <a:cs typeface="Arial MT"/>
              </a:rPr>
              <a:t>EXI</a:t>
            </a:r>
            <a:r>
              <a:rPr dirty="0" sz="2050" spc="-370">
                <a:solidFill>
                  <a:srgbClr val="2875E4"/>
                </a:solidFill>
                <a:latin typeface="Arial MT"/>
                <a:cs typeface="Arial MT"/>
              </a:rPr>
              <a:t> </a:t>
            </a:r>
            <a:r>
              <a:rPr dirty="0" sz="2050" spc="70">
                <a:solidFill>
                  <a:srgbClr val="4970E9"/>
                </a:solidFill>
                <a:latin typeface="Arial MT"/>
                <a:cs typeface="Arial MT"/>
              </a:rPr>
              <a:t>STI</a:t>
            </a:r>
            <a:r>
              <a:rPr dirty="0" sz="2050" spc="70">
                <a:solidFill>
                  <a:srgbClr val="2366EF"/>
                </a:solidFill>
                <a:latin typeface="Arial MT"/>
                <a:cs typeface="Arial MT"/>
              </a:rPr>
              <a:t>NG</a:t>
            </a:r>
            <a:r>
              <a:rPr dirty="0" sz="2050" spc="215">
                <a:solidFill>
                  <a:srgbClr val="2366EF"/>
                </a:solidFill>
                <a:latin typeface="Arial MT"/>
                <a:cs typeface="Arial MT"/>
              </a:rPr>
              <a:t> </a:t>
            </a:r>
            <a:r>
              <a:rPr dirty="0" sz="2050" spc="60">
                <a:solidFill>
                  <a:srgbClr val="3D70FF"/>
                </a:solidFill>
                <a:latin typeface="Arial MT"/>
                <a:cs typeface="Arial MT"/>
              </a:rPr>
              <a:t>SYSTEM</a:t>
            </a:r>
            <a:endParaRPr sz="2050">
              <a:latin typeface="Arial MT"/>
              <a:cs typeface="Arial MT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308830"/>
            <a:ext cx="8230115" cy="8999726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213581" y="2568372"/>
            <a:ext cx="5862320" cy="8108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150" spc="65">
                <a:solidFill>
                  <a:srgbClr val="131313"/>
                </a:solidFill>
              </a:rPr>
              <a:t>Current</a:t>
            </a:r>
            <a:r>
              <a:rPr dirty="0" sz="5150" spc="275">
                <a:solidFill>
                  <a:srgbClr val="131313"/>
                </a:solidFill>
              </a:rPr>
              <a:t> </a:t>
            </a:r>
            <a:r>
              <a:rPr dirty="0" sz="5150" spc="165">
                <a:solidFill>
                  <a:srgbClr val="161616"/>
                </a:solidFill>
              </a:rPr>
              <a:t>Limitations</a:t>
            </a:r>
            <a:endParaRPr sz="5150"/>
          </a:p>
        </p:txBody>
      </p:sp>
      <p:sp>
        <p:nvSpPr>
          <p:cNvPr id="5" name="object 5"/>
          <p:cNvSpPr txBox="1"/>
          <p:nvPr/>
        </p:nvSpPr>
        <p:spPr>
          <a:xfrm>
            <a:off x="9621766" y="4474728"/>
            <a:ext cx="419417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55980" algn="l"/>
              </a:tabLst>
            </a:pPr>
            <a:r>
              <a:rPr dirty="0" sz="2450" spc="95">
                <a:solidFill>
                  <a:srgbClr val="E64241"/>
                </a:solidFill>
                <a:latin typeface="Arial MT"/>
                <a:cs typeface="Arial MT"/>
              </a:rPr>
              <a:t>X</a:t>
            </a:r>
            <a:r>
              <a:rPr dirty="0" sz="2450">
                <a:solidFill>
                  <a:srgbClr val="E64241"/>
                </a:solidFill>
                <a:latin typeface="Arial MT"/>
                <a:cs typeface="Arial MT"/>
              </a:rPr>
              <a:t>	</a:t>
            </a:r>
            <a:r>
              <a:rPr dirty="0" sz="2450" spc="140">
                <a:solidFill>
                  <a:srgbClr val="0C0C0C"/>
                </a:solidFill>
                <a:latin typeface="Arial MT"/>
                <a:cs typeface="Arial MT"/>
              </a:rPr>
              <a:t>Static</a:t>
            </a:r>
            <a:r>
              <a:rPr dirty="0" sz="2450" spc="16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450" spc="65">
                <a:solidFill>
                  <a:srgbClr val="0A0A0A"/>
                </a:solidFill>
                <a:latin typeface="Arial MT"/>
                <a:cs typeface="Arial MT"/>
              </a:rPr>
              <a:t>Question</a:t>
            </a:r>
            <a:r>
              <a:rPr dirty="0" sz="2450" spc="4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2450" spc="40">
                <a:solidFill>
                  <a:srgbClr val="030303"/>
                </a:solidFill>
                <a:latin typeface="Arial MT"/>
                <a:cs typeface="Arial MT"/>
              </a:rPr>
              <a:t>Banks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21836" y="5849687"/>
            <a:ext cx="231775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25">
                <a:solidFill>
                  <a:srgbClr val="ED3F3A"/>
                </a:solidFill>
                <a:latin typeface="Arial MT"/>
                <a:cs typeface="Arial MT"/>
              </a:rPr>
              <a:t>X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463829" y="5849687"/>
            <a:ext cx="4050029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130">
                <a:solidFill>
                  <a:srgbClr val="181818"/>
                </a:solidFill>
                <a:latin typeface="Arial MT"/>
                <a:cs typeface="Arial MT"/>
              </a:rPr>
              <a:t>Universal</a:t>
            </a:r>
            <a:r>
              <a:rPr dirty="0" sz="2300" spc="5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2300" spc="120">
                <a:solidFill>
                  <a:srgbClr val="0E0E0E"/>
                </a:solidFill>
                <a:latin typeface="Arial MT"/>
                <a:cs typeface="Arial MT"/>
              </a:rPr>
              <a:t>Diff1cultg</a:t>
            </a:r>
            <a:r>
              <a:rPr dirty="0" sz="2300" spc="6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2300" spc="145">
                <a:solidFill>
                  <a:srgbClr val="161616"/>
                </a:solidFill>
                <a:latin typeface="Arial MT"/>
                <a:cs typeface="Arial MT"/>
              </a:rPr>
              <a:t>Scaling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21766" y="7184070"/>
            <a:ext cx="24574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30">
                <a:solidFill>
                  <a:srgbClr val="EF3A31"/>
                </a:solidFill>
                <a:latin typeface="Arial MT"/>
                <a:cs typeface="Arial MT"/>
              </a:rPr>
              <a:t>X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71156" y="7184070"/>
            <a:ext cx="399351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>
                <a:solidFill>
                  <a:srgbClr val="031634"/>
                </a:solidFill>
                <a:latin typeface="Arial MT"/>
                <a:cs typeface="Arial MT"/>
              </a:rPr>
              <a:t>No</a:t>
            </a:r>
            <a:r>
              <a:rPr dirty="0" sz="2450" spc="-70">
                <a:solidFill>
                  <a:srgbClr val="031634"/>
                </a:solidFill>
                <a:latin typeface="Arial MT"/>
                <a:cs typeface="Arial MT"/>
              </a:rPr>
              <a:t> </a:t>
            </a:r>
            <a:r>
              <a:rPr dirty="0" sz="2450" spc="50">
                <a:latin typeface="Arial MT"/>
                <a:cs typeface="Arial MT"/>
              </a:rPr>
              <a:t>Personalized</a:t>
            </a:r>
            <a:r>
              <a:rPr dirty="0" sz="2450" spc="114">
                <a:latin typeface="Arial MT"/>
                <a:cs typeface="Arial MT"/>
              </a:rPr>
              <a:t> </a:t>
            </a:r>
            <a:r>
              <a:rPr dirty="0" sz="2450" spc="95">
                <a:solidFill>
                  <a:srgbClr val="0E0E0E"/>
                </a:solidFill>
                <a:latin typeface="Arial MT"/>
                <a:cs typeface="Arial MT"/>
              </a:rPr>
              <a:t>Feedback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21694" y="8518453"/>
            <a:ext cx="464058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61060" algn="l"/>
              </a:tabLst>
            </a:pPr>
            <a:r>
              <a:rPr dirty="0" sz="2550" spc="35">
                <a:solidFill>
                  <a:srgbClr val="E43D3A"/>
                </a:solidFill>
                <a:latin typeface="Arial MT"/>
                <a:cs typeface="Arial MT"/>
              </a:rPr>
              <a:t>X</a:t>
            </a:r>
            <a:r>
              <a:rPr dirty="0" sz="2550">
                <a:solidFill>
                  <a:srgbClr val="E43D3A"/>
                </a:solidFill>
                <a:latin typeface="Arial MT"/>
                <a:cs typeface="Arial MT"/>
              </a:rPr>
              <a:t>	</a:t>
            </a:r>
            <a:r>
              <a:rPr dirty="0" sz="2550" spc="45">
                <a:solidFill>
                  <a:srgbClr val="051A34"/>
                </a:solidFill>
                <a:latin typeface="Arial MT"/>
                <a:cs typeface="Arial MT"/>
              </a:rPr>
              <a:t>Manual,</a:t>
            </a:r>
            <a:r>
              <a:rPr dirty="0" sz="2550" spc="-90">
                <a:solidFill>
                  <a:srgbClr val="051A34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0C0C0C"/>
                </a:solidFill>
                <a:latin typeface="Arial MT"/>
                <a:cs typeface="Arial MT"/>
              </a:rPr>
              <a:t>Delayed</a:t>
            </a:r>
            <a:r>
              <a:rPr dirty="0" sz="2550" spc="26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131313"/>
                </a:solidFill>
                <a:latin typeface="Arial MT"/>
                <a:cs typeface="Arial MT"/>
              </a:rPr>
              <a:t>Grading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/>
          <p:nvPr/>
        </p:nvSpPr>
        <p:spPr>
          <a:xfrm>
            <a:off x="996668" y="1209121"/>
            <a:ext cx="3261360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>
                <a:solidFill>
                  <a:srgbClr val="2F62EB"/>
                </a:solidFill>
                <a:latin typeface="Arial MT"/>
                <a:cs typeface="Arial MT"/>
              </a:rPr>
              <a:t>05.</a:t>
            </a:r>
            <a:r>
              <a:rPr dirty="0" sz="2200" spc="270">
                <a:solidFill>
                  <a:srgbClr val="2F62EB"/>
                </a:solidFill>
                <a:latin typeface="Arial MT"/>
                <a:cs typeface="Arial MT"/>
              </a:rPr>
              <a:t> </a:t>
            </a:r>
            <a:r>
              <a:rPr dirty="0" sz="2200" spc="-105">
                <a:solidFill>
                  <a:srgbClr val="1D62E2"/>
                </a:solidFill>
                <a:latin typeface="Arial MT"/>
                <a:cs typeface="Arial MT"/>
              </a:rPr>
              <a:t>PROPOSED</a:t>
            </a:r>
            <a:r>
              <a:rPr dirty="0" sz="2200" spc="245">
                <a:solidFill>
                  <a:srgbClr val="1D62E2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2F64D8"/>
                </a:solidFill>
                <a:latin typeface="Arial MT"/>
                <a:cs typeface="Arial MT"/>
              </a:rPr>
              <a:t>SYSTEM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pc="245">
                <a:solidFill>
                  <a:srgbClr val="131313"/>
                </a:solidFill>
              </a:rPr>
              <a:t>Intelligent</a:t>
            </a:r>
            <a:r>
              <a:rPr dirty="0" spc="520">
                <a:solidFill>
                  <a:srgbClr val="131313"/>
                </a:solidFill>
              </a:rPr>
              <a:t> </a:t>
            </a:r>
            <a:r>
              <a:rPr dirty="0" spc="180">
                <a:solidFill>
                  <a:srgbClr val="131313"/>
                </a:solidFill>
              </a:rPr>
              <a:t>Architecture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4959184" y="3702500"/>
            <a:ext cx="757555" cy="2419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00" spc="-25">
                <a:solidFill>
                  <a:srgbClr val="131313"/>
                </a:solidFill>
                <a:latin typeface="Arial MT"/>
                <a:cs typeface="Arial MT"/>
              </a:rPr>
              <a:t>indonesia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83243" y="4558496"/>
            <a:ext cx="6586220" cy="1244600"/>
          </a:xfrm>
          <a:prstGeom prst="rect">
            <a:avLst/>
          </a:prstGeom>
        </p:spPr>
        <p:txBody>
          <a:bodyPr wrap="square" lIns="0" tIns="191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dirty="0" sz="3350" spc="145">
                <a:solidFill>
                  <a:srgbClr val="111111"/>
                </a:solidFill>
                <a:latin typeface="Arial MT"/>
                <a:cs typeface="Arial MT"/>
              </a:rPr>
              <a:t>Dynamic</a:t>
            </a:r>
            <a:r>
              <a:rPr dirty="0" sz="3350" spc="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3350" spc="240">
                <a:solidFill>
                  <a:srgbClr val="0C0C0C"/>
                </a:solidFill>
                <a:latin typeface="Arial MT"/>
                <a:cs typeface="Arial MT"/>
              </a:rPr>
              <a:t>Difficulty</a:t>
            </a:r>
            <a:r>
              <a:rPr dirty="0" sz="3350" spc="3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3350" spc="215">
                <a:solidFill>
                  <a:srgbClr val="0F0F0F"/>
                </a:solidFill>
                <a:latin typeface="Arial MT"/>
                <a:cs typeface="Arial MT"/>
              </a:rPr>
              <a:t>Adjustment</a:t>
            </a:r>
            <a:endParaRPr sz="3350">
              <a:latin typeface="Arial MT"/>
              <a:cs typeface="Arial MT"/>
            </a:endParaRPr>
          </a:p>
          <a:p>
            <a:pPr marL="31115">
              <a:lnSpc>
                <a:spcPct val="100000"/>
              </a:lnSpc>
              <a:spcBef>
                <a:spcPts val="1110"/>
              </a:spcBef>
            </a:pPr>
            <a:r>
              <a:rPr dirty="0" sz="2550">
                <a:solidFill>
                  <a:srgbClr val="4B4B4B"/>
                </a:solidFill>
                <a:latin typeface="Arial MT"/>
                <a:cs typeface="Arial MT"/>
              </a:rPr>
              <a:t>Questions</a:t>
            </a:r>
            <a:r>
              <a:rPr dirty="0" sz="2550" spc="49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D4D4D"/>
                </a:solidFill>
                <a:latin typeface="Arial MT"/>
                <a:cs typeface="Arial MT"/>
              </a:rPr>
              <a:t>scale</a:t>
            </a:r>
            <a:r>
              <a:rPr dirty="0" sz="2550" spc="26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D4D4D"/>
                </a:solidFill>
                <a:latin typeface="Arial MT"/>
                <a:cs typeface="Arial MT"/>
              </a:rPr>
              <a:t>based</a:t>
            </a:r>
            <a:r>
              <a:rPr dirty="0" sz="2550" spc="23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F4F4F"/>
                </a:solidFill>
                <a:latin typeface="Arial MT"/>
                <a:cs typeface="Arial MT"/>
              </a:rPr>
              <a:t>on</a:t>
            </a:r>
            <a:r>
              <a:rPr dirty="0" sz="2550" spc="14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84848"/>
                </a:solidFill>
                <a:latin typeface="Arial MT"/>
                <a:cs typeface="Arial MT"/>
              </a:rPr>
              <a:t>live</a:t>
            </a:r>
            <a:r>
              <a:rPr dirty="0" sz="2550" spc="24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424242"/>
                </a:solidFill>
                <a:latin typeface="Arial MT"/>
                <a:cs typeface="Arial MT"/>
              </a:rPr>
              <a:t>performance.</a:t>
            </a:r>
            <a:endParaRPr sz="255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044106" y="4727604"/>
            <a:ext cx="424070" cy="1099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48287" y="4978906"/>
            <a:ext cx="447630" cy="12565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3952990" y="5013325"/>
            <a:ext cx="98996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50">
                <a:latin typeface="Arial MT"/>
                <a:cs typeface="Arial MT"/>
              </a:rPr>
              <a:t>netherlands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037349" y="5868665"/>
            <a:ext cx="133921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25">
                <a:solidFill>
                  <a:srgbClr val="131313"/>
                </a:solidFill>
                <a:latin typeface="Consolas"/>
                <a:cs typeface="Consolas"/>
              </a:rPr>
              <a:t>germany</a:t>
            </a:r>
            <a:r>
              <a:rPr dirty="0" sz="1650" spc="495">
                <a:solidFill>
                  <a:srgbClr val="131313"/>
                </a:solidFill>
                <a:latin typeface="Consolas"/>
                <a:cs typeface="Consolas"/>
              </a:rPr>
              <a:t> </a:t>
            </a:r>
            <a:r>
              <a:rPr dirty="0" sz="1650" spc="-330">
                <a:solidFill>
                  <a:srgbClr val="231A05"/>
                </a:solidFill>
                <a:latin typeface="Consolas"/>
                <a:cs typeface="Consolas"/>
              </a:rPr>
              <a:t>'</a:t>
            </a:r>
            <a:r>
              <a:rPr dirty="0" sz="1650" spc="-370">
                <a:solidFill>
                  <a:srgbClr val="231A05"/>
                </a:solidFill>
                <a:latin typeface="Consolas"/>
                <a:cs typeface="Consolas"/>
              </a:rPr>
              <a:t> </a:t>
            </a:r>
            <a:r>
              <a:rPr dirty="0" sz="1650" spc="-95">
                <a:solidFill>
                  <a:srgbClr val="B1B334"/>
                </a:solidFill>
                <a:latin typeface="Consolas"/>
                <a:cs typeface="Consolas"/>
              </a:rPr>
              <a:t>!’</a:t>
            </a:r>
            <a:endParaRPr sz="1650">
              <a:latin typeface="Consolas"/>
              <a:cs typeface="Consola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736029" y="5868665"/>
            <a:ext cx="51054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145">
                <a:solidFill>
                  <a:srgbClr val="2D2D2D"/>
                </a:solidFill>
                <a:latin typeface="Consolas"/>
                <a:cs typeface="Consolas"/>
              </a:rPr>
              <a:t>'°•""</a:t>
            </a:r>
            <a:endParaRPr sz="1650">
              <a:latin typeface="Consolas"/>
              <a:cs typeface="Consolas"/>
            </a:endParaRPr>
          </a:p>
        </p:txBody>
      </p:sp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619942" y="4806136"/>
            <a:ext cx="1649164" cy="123294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85770" y="6148270"/>
            <a:ext cx="6536055" cy="2796540"/>
          </a:xfrm>
          <a:prstGeom prst="rect">
            <a:avLst/>
          </a:prstGeom>
        </p:spPr>
        <p:txBody>
          <a:bodyPr wrap="square" lIns="0" tIns="191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dirty="0" sz="3200" spc="245">
                <a:solidFill>
                  <a:srgbClr val="0F0F0F"/>
                </a:solidFill>
                <a:latin typeface="Arial MT"/>
                <a:cs typeface="Arial MT"/>
              </a:rPr>
              <a:t>Item</a:t>
            </a:r>
            <a:r>
              <a:rPr dirty="0" sz="3200" spc="7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3200" spc="190">
                <a:solidFill>
                  <a:srgbClr val="0F0F0F"/>
                </a:solidFill>
                <a:latin typeface="Arial MT"/>
                <a:cs typeface="Arial MT"/>
              </a:rPr>
              <a:t>Response</a:t>
            </a:r>
            <a:r>
              <a:rPr dirty="0" sz="3200" spc="9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3200" spc="220">
                <a:solidFill>
                  <a:srgbClr val="0F0F0F"/>
                </a:solidFill>
                <a:latin typeface="Arial MT"/>
                <a:cs typeface="Arial MT"/>
              </a:rPr>
              <a:t>Theorg</a:t>
            </a:r>
            <a:endParaRPr sz="3200">
              <a:latin typeface="Arial MT"/>
              <a:cs typeface="Arial MT"/>
            </a:endParaRPr>
          </a:p>
          <a:p>
            <a:pPr marL="35560">
              <a:lnSpc>
                <a:spcPct val="100000"/>
              </a:lnSpc>
              <a:spcBef>
                <a:spcPts val="1140"/>
              </a:spcBef>
            </a:pPr>
            <a:r>
              <a:rPr dirty="0" sz="2550">
                <a:solidFill>
                  <a:srgbClr val="494949"/>
                </a:solidFill>
                <a:latin typeface="Arial MT"/>
                <a:cs typeface="Arial MT"/>
              </a:rPr>
              <a:t>Advanced</a:t>
            </a:r>
            <a:r>
              <a:rPr dirty="0" sz="2550" spc="61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B4B4B"/>
                </a:solidFill>
                <a:latin typeface="Arial MT"/>
                <a:cs typeface="Arial MT"/>
              </a:rPr>
              <a:t>algorithmic</a:t>
            </a:r>
            <a:r>
              <a:rPr dirty="0" sz="2550" spc="57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D4D4D"/>
                </a:solidFill>
                <a:latin typeface="Arial MT"/>
                <a:cs typeface="Arial MT"/>
              </a:rPr>
              <a:t>question</a:t>
            </a:r>
            <a:r>
              <a:rPr dirty="0" sz="2550" spc="61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383838"/>
                </a:solidFill>
                <a:latin typeface="Arial MT"/>
                <a:cs typeface="Arial MT"/>
              </a:rPr>
              <a:t>selection.</a:t>
            </a:r>
            <a:endParaRPr sz="2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2550">
              <a:latin typeface="Arial MT"/>
              <a:cs typeface="Arial MT"/>
            </a:endParaRPr>
          </a:p>
          <a:p>
            <a:pPr marL="27305">
              <a:lnSpc>
                <a:spcPct val="100000"/>
              </a:lnSpc>
            </a:pPr>
            <a:r>
              <a:rPr dirty="0" sz="3350" spc="180">
                <a:solidFill>
                  <a:srgbClr val="0F0F0F"/>
                </a:solidFill>
                <a:latin typeface="Arial MT"/>
                <a:cs typeface="Arial MT"/>
              </a:rPr>
              <a:t>Actionable</a:t>
            </a:r>
            <a:r>
              <a:rPr dirty="0" sz="3350" spc="15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3350" spc="235">
                <a:solidFill>
                  <a:srgbClr val="111111"/>
                </a:solidFill>
                <a:latin typeface="Arial MT"/>
                <a:cs typeface="Arial MT"/>
              </a:rPr>
              <a:t>Metrics</a:t>
            </a:r>
            <a:endParaRPr sz="335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1045"/>
              </a:spcBef>
            </a:pPr>
            <a:r>
              <a:rPr dirty="0" sz="2550">
                <a:solidFill>
                  <a:srgbClr val="4D4D4D"/>
                </a:solidFill>
                <a:latin typeface="Arial MT"/>
                <a:cs typeface="Arial MT"/>
              </a:rPr>
              <a:t>Deep</a:t>
            </a:r>
            <a:r>
              <a:rPr dirty="0" sz="2550" spc="32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94949"/>
                </a:solidFill>
                <a:latin typeface="Arial MT"/>
                <a:cs typeface="Arial MT"/>
              </a:rPr>
              <a:t>analytics</a:t>
            </a:r>
            <a:r>
              <a:rPr dirty="0" sz="2550" spc="40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B4B4B"/>
                </a:solidFill>
                <a:latin typeface="Arial MT"/>
                <a:cs typeface="Arial MT"/>
              </a:rPr>
              <a:t>for</a:t>
            </a:r>
            <a:r>
              <a:rPr dirty="0" sz="2550" spc="39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94949"/>
                </a:solidFill>
                <a:latin typeface="Arial MT"/>
                <a:cs typeface="Arial MT"/>
              </a:rPr>
              <a:t>continuous</a:t>
            </a:r>
            <a:r>
              <a:rPr dirty="0" sz="2550" spc="-40">
                <a:solidFill>
                  <a:srgbClr val="494949"/>
                </a:solidFill>
                <a:latin typeface="Arial MT"/>
                <a:cs typeface="Arial MT"/>
              </a:rPr>
              <a:t>  </a:t>
            </a:r>
            <a:r>
              <a:rPr dirty="0" sz="2550">
                <a:solidFill>
                  <a:srgbClr val="484848"/>
                </a:solidFill>
                <a:latin typeface="Arial MT"/>
                <a:cs typeface="Arial MT"/>
              </a:rPr>
              <a:t>skill</a:t>
            </a:r>
            <a:r>
              <a:rPr dirty="0" sz="2550" spc="229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424242"/>
                </a:solidFill>
                <a:latin typeface="Arial MT"/>
                <a:cs typeface="Arial MT"/>
              </a:rPr>
              <a:t>tracking.</a:t>
            </a:r>
            <a:endParaRPr sz="255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109396" y="6062642"/>
            <a:ext cx="832435" cy="251301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64551" y="6345356"/>
            <a:ext cx="1107296" cy="2198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269198" y="6745868"/>
            <a:ext cx="109944" cy="15706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457675" y="6282531"/>
            <a:ext cx="3706693" cy="65181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8659118" y="6518126"/>
            <a:ext cx="439777" cy="1884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214318" y="6895078"/>
            <a:ext cx="439777" cy="16491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274495" y="7059994"/>
            <a:ext cx="5033878" cy="48689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5282257" y="7664687"/>
            <a:ext cx="455483" cy="1884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214226" y="7931695"/>
            <a:ext cx="534015" cy="23559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392201" y="8010227"/>
            <a:ext cx="439777" cy="157063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0539934" y="9527585"/>
            <a:ext cx="9880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5">
                <a:latin typeface="Times New Roman"/>
                <a:cs typeface="Times New Roman"/>
              </a:rPr>
              <a:t>VOSviewer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706" y="1303625"/>
            <a:ext cx="20088860" cy="220345"/>
            <a:chOff x="15706" y="1303625"/>
            <a:chExt cx="20088860" cy="2203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64" y="1327184"/>
              <a:ext cx="3934435" cy="18062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1303625"/>
              <a:ext cx="20088393" cy="219888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15706" y="1963291"/>
            <a:ext cx="20080605" cy="495300"/>
          </a:xfrm>
          <a:custGeom>
            <a:avLst/>
            <a:gdLst/>
            <a:ahLst/>
            <a:cxnLst/>
            <a:rect l="l" t="t" r="r" b="b"/>
            <a:pathLst>
              <a:path w="20080605" h="495300">
                <a:moveTo>
                  <a:pt x="20080541" y="494749"/>
                </a:moveTo>
                <a:lnTo>
                  <a:pt x="0" y="49474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94749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150" spc="-90">
                <a:solidFill>
                  <a:srgbClr val="FFFFFF"/>
                </a:solidFill>
                <a:latin typeface="Trebuchet MS"/>
                <a:cs typeface="Trebuchet MS"/>
              </a:rPr>
              <a:t>Three-</a:t>
            </a:r>
            <a:r>
              <a:rPr dirty="0" sz="5150">
                <a:solidFill>
                  <a:srgbClr val="FFFFFF"/>
                </a:solidFill>
                <a:latin typeface="Trebuchet MS"/>
                <a:cs typeface="Trebuchet MS"/>
              </a:rPr>
              <a:t>Tier</a:t>
            </a:r>
            <a:r>
              <a:rPr dirty="0" sz="5150" spc="2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5150" spc="-10">
                <a:solidFill>
                  <a:srgbClr val="FFFFFF"/>
                </a:solidFill>
                <a:latin typeface="Trebuchet MS"/>
                <a:cs typeface="Trebuchet MS"/>
              </a:rPr>
              <a:t>Model</a:t>
            </a:r>
            <a:endParaRPr sz="515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5706" y="5984111"/>
            <a:ext cx="20088860" cy="659765"/>
            <a:chOff x="15706" y="5984111"/>
            <a:chExt cx="20088860" cy="65976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941923" y="5984111"/>
              <a:ext cx="4162176" cy="65966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90804" y="5984111"/>
              <a:ext cx="4209295" cy="65966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39685" y="5984111"/>
              <a:ext cx="4209295" cy="65966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706" y="5984111"/>
              <a:ext cx="20088393" cy="659665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5706" y="7727513"/>
            <a:ext cx="20080605" cy="369570"/>
          </a:xfrm>
          <a:custGeom>
            <a:avLst/>
            <a:gdLst/>
            <a:ahLst/>
            <a:cxnLst/>
            <a:rect l="l" t="t" r="r" b="b"/>
            <a:pathLst>
              <a:path w="20080605" h="369570">
                <a:moveTo>
                  <a:pt x="20080541" y="369098"/>
                </a:moveTo>
                <a:lnTo>
                  <a:pt x="0" y="36909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69098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724201" y="7604869"/>
            <a:ext cx="2174875" cy="497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100">
                <a:solidFill>
                  <a:srgbClr val="FFFFFF"/>
                </a:solidFill>
                <a:latin typeface="Arial MT"/>
                <a:cs typeface="Arial MT"/>
              </a:rPr>
              <a:t>Client</a:t>
            </a:r>
            <a:r>
              <a:rPr dirty="0" sz="3100" spc="1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Arial MT"/>
                <a:cs typeface="Arial MT"/>
              </a:rPr>
              <a:t>Lager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75167" y="7621230"/>
            <a:ext cx="2110105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95">
                <a:solidFill>
                  <a:srgbClr val="FFFFFF"/>
                </a:solidFill>
                <a:latin typeface="Arial MT"/>
                <a:cs typeface="Arial MT"/>
              </a:rPr>
              <a:t>Logic</a:t>
            </a:r>
            <a:r>
              <a:rPr dirty="0" sz="2950" spc="1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50">
                <a:solidFill>
                  <a:srgbClr val="FFFFFF"/>
                </a:solidFill>
                <a:latin typeface="Arial MT"/>
                <a:cs typeface="Arial MT"/>
              </a:rPr>
              <a:t>Lager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257699" y="7621230"/>
            <a:ext cx="1986914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16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dirty="0" sz="2950" spc="-1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950" spc="114">
                <a:solidFill>
                  <a:srgbClr val="FFFFFF"/>
                </a:solidFill>
                <a:latin typeface="Trebuchet MS"/>
                <a:cs typeface="Trebuchet MS"/>
              </a:rPr>
              <a:t>Lager</a:t>
            </a:r>
            <a:endParaRPr sz="295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706" y="8292941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621091" y="8214798"/>
            <a:ext cx="240474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30">
                <a:solidFill>
                  <a:srgbClr val="ACACAC"/>
                </a:solidFill>
                <a:latin typeface="Arial MT"/>
                <a:cs typeface="Arial MT"/>
              </a:rPr>
              <a:t>React</a:t>
            </a:r>
            <a:r>
              <a:rPr dirty="0" sz="2050" spc="25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858797"/>
                </a:solidFill>
                <a:latin typeface="Arial MT"/>
                <a:cs typeface="Arial MT"/>
              </a:rPr>
              <a:t>UI</a:t>
            </a:r>
            <a:r>
              <a:rPr dirty="0" sz="2050" spc="-30">
                <a:solidFill>
                  <a:srgbClr val="858797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B1B1B1"/>
                </a:solidFill>
                <a:latin typeface="Arial MT"/>
                <a:cs typeface="Arial MT"/>
              </a:rPr>
              <a:t>Application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08773" y="8214798"/>
            <a:ext cx="188912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>
                <a:solidFill>
                  <a:srgbClr val="ACACAC"/>
                </a:solidFill>
                <a:latin typeface="Arial MT"/>
                <a:cs typeface="Arial MT"/>
              </a:rPr>
              <a:t>Spring</a:t>
            </a:r>
            <a:r>
              <a:rPr dirty="0" sz="2050" spc="14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858EA3"/>
                </a:solidFill>
                <a:latin typeface="Arial MT"/>
                <a:cs typeface="Arial MT"/>
              </a:rPr>
              <a:t>Boot</a:t>
            </a:r>
            <a:r>
              <a:rPr dirty="0" sz="2050" spc="200">
                <a:solidFill>
                  <a:srgbClr val="858EA3"/>
                </a:solidFill>
                <a:latin typeface="Arial MT"/>
                <a:cs typeface="Arial MT"/>
              </a:rPr>
              <a:t> </a:t>
            </a:r>
            <a:r>
              <a:rPr dirty="0" sz="2050" spc="-75">
                <a:solidFill>
                  <a:srgbClr val="A3A3A3"/>
                </a:solidFill>
                <a:latin typeface="Arial MT"/>
                <a:cs typeface="Arial MT"/>
              </a:rPr>
              <a:t>API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162527" y="8198437"/>
            <a:ext cx="2187575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150">
                <a:solidFill>
                  <a:srgbClr val="798791"/>
                </a:solidFill>
                <a:latin typeface="Arial MT"/>
                <a:cs typeface="Arial MT"/>
              </a:rPr>
              <a:t>MySQL</a:t>
            </a:r>
            <a:r>
              <a:rPr dirty="0" sz="2200" spc="25">
                <a:solidFill>
                  <a:srgbClr val="798791"/>
                </a:solidFill>
                <a:latin typeface="Arial MT"/>
                <a:cs typeface="Arial MT"/>
              </a:rPr>
              <a:t> </a:t>
            </a:r>
            <a:r>
              <a:rPr dirty="0" sz="2200" spc="-75">
                <a:solidFill>
                  <a:srgbClr val="ACACAC"/>
                </a:solidFill>
                <a:latin typeface="Arial MT"/>
                <a:cs typeface="Arial MT"/>
              </a:rPr>
              <a:t>Repository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6668" y="1209121"/>
            <a:ext cx="3043555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>
                <a:solidFill>
                  <a:srgbClr val="2864FB"/>
                </a:solidFill>
                <a:latin typeface="Arial MT"/>
                <a:cs typeface="Arial MT"/>
              </a:rPr>
              <a:t>07.</a:t>
            </a:r>
            <a:r>
              <a:rPr dirty="0" sz="2200" spc="50">
                <a:solidFill>
                  <a:srgbClr val="2864FB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3162E6"/>
                </a:solidFill>
                <a:latin typeface="Arial MT"/>
                <a:cs typeface="Arial MT"/>
              </a:rPr>
              <a:t>FUNCTIONALITIES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9525">
              <a:lnSpc>
                <a:spcPct val="100000"/>
              </a:lnSpc>
              <a:spcBef>
                <a:spcPts val="110"/>
              </a:spcBef>
            </a:pPr>
            <a:r>
              <a:rPr dirty="0" sz="5400">
                <a:latin typeface="Times New Roman"/>
                <a:cs typeface="Times New Roman"/>
              </a:rPr>
              <a:t>Gore</a:t>
            </a:r>
            <a:r>
              <a:rPr dirty="0" sz="5400" spc="110">
                <a:latin typeface="Times New Roman"/>
                <a:cs typeface="Times New Roman"/>
              </a:rPr>
              <a:t> </a:t>
            </a:r>
            <a:r>
              <a:rPr dirty="0" sz="5400" spc="210">
                <a:latin typeface="Times New Roman"/>
                <a:cs typeface="Times New Roman"/>
              </a:rPr>
              <a:t>Features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74327" y="4291202"/>
            <a:ext cx="5852160" cy="1059180"/>
          </a:xfrm>
          <a:prstGeom prst="rect">
            <a:avLst/>
          </a:prstGeom>
        </p:spPr>
        <p:txBody>
          <a:bodyPr wrap="square" lIns="0" tIns="187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dirty="0" sz="2700" spc="70">
                <a:solidFill>
                  <a:srgbClr val="080808"/>
                </a:solidFill>
                <a:latin typeface="Arial MT"/>
                <a:cs typeface="Arial MT"/>
              </a:rPr>
              <a:t>Role-</a:t>
            </a:r>
            <a:r>
              <a:rPr dirty="0" sz="2700" spc="85">
                <a:solidFill>
                  <a:srgbClr val="080808"/>
                </a:solidFill>
                <a:latin typeface="Arial MT"/>
                <a:cs typeface="Arial MT"/>
              </a:rPr>
              <a:t>Based</a:t>
            </a:r>
            <a:r>
              <a:rPr dirty="0" sz="2700" spc="34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2700" spc="75">
                <a:solidFill>
                  <a:srgbClr val="080808"/>
                </a:solidFill>
                <a:latin typeface="Arial MT"/>
                <a:cs typeface="Arial MT"/>
              </a:rPr>
              <a:t>Access</a:t>
            </a:r>
            <a:endParaRPr sz="2700">
              <a:latin typeface="Arial MT"/>
              <a:cs typeface="Arial MT"/>
            </a:endParaRPr>
          </a:p>
          <a:p>
            <a:pPr marL="19685">
              <a:lnSpc>
                <a:spcPct val="100000"/>
              </a:lnSpc>
              <a:spcBef>
                <a:spcPts val="1060"/>
              </a:spcBef>
            </a:pPr>
            <a:r>
              <a:rPr dirty="0" sz="2050" spc="-10">
                <a:solidFill>
                  <a:srgbClr val="7E8EA3"/>
                </a:solidFill>
                <a:latin typeface="Arial MT"/>
                <a:cs typeface="Arial MT"/>
              </a:rPr>
              <a:t>Secure</a:t>
            </a:r>
            <a:r>
              <a:rPr dirty="0" sz="2050" spc="110">
                <a:solidFill>
                  <a:srgbClr val="7E8EA3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4B4B4B"/>
                </a:solidFill>
                <a:latin typeface="Arial MT"/>
                <a:cs typeface="Arial MT"/>
              </a:rPr>
              <a:t>portals</a:t>
            </a:r>
            <a:r>
              <a:rPr dirty="0" sz="2050" spc="1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050" spc="65">
                <a:solidFill>
                  <a:srgbClr val="798CAA"/>
                </a:solidFill>
                <a:latin typeface="Arial MT"/>
                <a:cs typeface="Arial MT"/>
              </a:rPr>
              <a:t>fo</a:t>
            </a:r>
            <a:r>
              <a:rPr dirty="0" sz="2050" spc="65">
                <a:solidFill>
                  <a:srgbClr val="445669"/>
                </a:solidFill>
                <a:latin typeface="Arial MT"/>
                <a:cs typeface="Arial MT"/>
              </a:rPr>
              <a:t>r</a:t>
            </a:r>
            <a:r>
              <a:rPr dirty="0" sz="2050" spc="120">
                <a:solidFill>
                  <a:srgbClr val="445669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708AA5"/>
                </a:solidFill>
                <a:latin typeface="Arial MT"/>
                <a:cs typeface="Arial MT"/>
              </a:rPr>
              <a:t>Ad</a:t>
            </a:r>
            <a:r>
              <a:rPr dirty="0" sz="2050">
                <a:solidFill>
                  <a:srgbClr val="4D4D4D"/>
                </a:solidFill>
                <a:latin typeface="Arial MT"/>
                <a:cs typeface="Arial MT"/>
              </a:rPr>
              <a:t>mins,</a:t>
            </a:r>
            <a:r>
              <a:rPr dirty="0" sz="2050" spc="13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4B4B4B"/>
                </a:solidFill>
                <a:latin typeface="Arial MT"/>
                <a:cs typeface="Arial MT"/>
              </a:rPr>
              <a:t>Faculty,</a:t>
            </a:r>
            <a:r>
              <a:rPr dirty="0" sz="2050" spc="22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364B5E"/>
                </a:solidFill>
                <a:latin typeface="Arial MT"/>
                <a:cs typeface="Arial MT"/>
              </a:rPr>
              <a:t>and</a:t>
            </a:r>
            <a:r>
              <a:rPr dirty="0" sz="2050" spc="85">
                <a:solidFill>
                  <a:srgbClr val="364B5E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3D3D3D"/>
                </a:solidFill>
                <a:latin typeface="Arial MT"/>
                <a:cs typeface="Arial MT"/>
              </a:rPr>
              <a:t>Students.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53705" y="4134139"/>
            <a:ext cx="5350510" cy="1059180"/>
          </a:xfrm>
          <a:prstGeom prst="rect">
            <a:avLst/>
          </a:prstGeom>
        </p:spPr>
        <p:txBody>
          <a:bodyPr wrap="square" lIns="0" tIns="187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dirty="0" sz="2700" spc="95">
                <a:solidFill>
                  <a:srgbClr val="111111"/>
                </a:solidFill>
                <a:latin typeface="Arial MT"/>
                <a:cs typeface="Arial MT"/>
              </a:rPr>
              <a:t>Smart</a:t>
            </a:r>
            <a:r>
              <a:rPr dirty="0" sz="2700" spc="229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2700" spc="100">
                <a:solidFill>
                  <a:srgbClr val="0C0C0C"/>
                </a:solidFill>
                <a:latin typeface="Arial MT"/>
                <a:cs typeface="Arial MT"/>
              </a:rPr>
              <a:t>Repositories</a:t>
            </a:r>
            <a:endParaRPr sz="2700">
              <a:latin typeface="Arial MT"/>
              <a:cs typeface="Arial MT"/>
            </a:endParaRPr>
          </a:p>
          <a:p>
            <a:pPr marL="24130">
              <a:lnSpc>
                <a:spcPct val="100000"/>
              </a:lnSpc>
              <a:spcBef>
                <a:spcPts val="1060"/>
              </a:spcBef>
            </a:pPr>
            <a:r>
              <a:rPr dirty="0" sz="2050">
                <a:solidFill>
                  <a:srgbClr val="494949"/>
                </a:solidFill>
                <a:latin typeface="Arial MT"/>
                <a:cs typeface="Arial MT"/>
              </a:rPr>
              <a:t>Metadata-tagged</a:t>
            </a:r>
            <a:r>
              <a:rPr dirty="0" sz="2050" spc="18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26B82"/>
                </a:solidFill>
                <a:latin typeface="Arial MT"/>
                <a:cs typeface="Arial MT"/>
              </a:rPr>
              <a:t>banks</a:t>
            </a:r>
            <a:r>
              <a:rPr dirty="0" sz="2050" spc="275">
                <a:solidFill>
                  <a:srgbClr val="526B82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3D3D3D"/>
                </a:solidFill>
                <a:latin typeface="Arial MT"/>
                <a:cs typeface="Arial MT"/>
              </a:rPr>
              <a:t>organized</a:t>
            </a:r>
            <a:r>
              <a:rPr dirty="0" sz="2050" spc="43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66789"/>
                </a:solidFill>
                <a:latin typeface="Arial MT"/>
                <a:cs typeface="Arial MT"/>
              </a:rPr>
              <a:t>by</a:t>
            </a:r>
            <a:r>
              <a:rPr dirty="0" sz="2050" spc="285">
                <a:solidFill>
                  <a:srgbClr val="566789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4D4D4D"/>
                </a:solidFill>
                <a:latin typeface="Arial MT"/>
                <a:cs typeface="Arial MT"/>
              </a:rPr>
              <a:t>micro-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50517" y="7869790"/>
            <a:ext cx="5565775" cy="1077595"/>
          </a:xfrm>
          <a:prstGeom prst="rect">
            <a:avLst/>
          </a:prstGeom>
        </p:spPr>
        <p:txBody>
          <a:bodyPr wrap="square" lIns="0" tIns="198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2700" spc="70">
                <a:solidFill>
                  <a:srgbClr val="131313"/>
                </a:solidFill>
                <a:latin typeface="Arial MT"/>
                <a:cs typeface="Arial MT"/>
              </a:rPr>
              <a:t>Live</a:t>
            </a:r>
            <a:r>
              <a:rPr dirty="0" sz="2700" spc="13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2700" spc="125">
                <a:solidFill>
                  <a:srgbClr val="151515"/>
                </a:solidFill>
                <a:latin typeface="Arial MT"/>
                <a:cs typeface="Arial MT"/>
              </a:rPr>
              <a:t>Adaptive</a:t>
            </a:r>
            <a:r>
              <a:rPr dirty="0" sz="2700" spc="20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2700" spc="65">
                <a:solidFill>
                  <a:srgbClr val="0C0C0C"/>
                </a:solidFill>
                <a:latin typeface="Arial MT"/>
                <a:cs typeface="Arial MT"/>
              </a:rPr>
              <a:t>Engine</a:t>
            </a:r>
            <a:endParaRPr sz="270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spcBef>
                <a:spcPts val="1120"/>
              </a:spcBef>
            </a:pPr>
            <a:r>
              <a:rPr dirty="0" sz="2050">
                <a:solidFill>
                  <a:srgbClr val="494949"/>
                </a:solidFill>
                <a:latin typeface="Arial MT"/>
                <a:cs typeface="Arial MT"/>
              </a:rPr>
              <a:t>Instant</a:t>
            </a:r>
            <a:r>
              <a:rPr dirty="0" sz="2050" spc="29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4B4B4B"/>
                </a:solidFill>
                <a:latin typeface="Arial MT"/>
                <a:cs typeface="Arial MT"/>
              </a:rPr>
              <a:t>recalibration</a:t>
            </a:r>
            <a:r>
              <a:rPr dirty="0" sz="2050" spc="41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75828E"/>
                </a:solidFill>
                <a:latin typeface="Arial MT"/>
                <a:cs typeface="Arial MT"/>
              </a:rPr>
              <a:t>of</a:t>
            </a:r>
            <a:r>
              <a:rPr dirty="0" sz="2050" spc="240">
                <a:solidFill>
                  <a:srgbClr val="75828E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4B4B4B"/>
                </a:solidFill>
                <a:latin typeface="Arial MT"/>
                <a:cs typeface="Arial MT"/>
              </a:rPr>
              <a:t>test</a:t>
            </a:r>
            <a:r>
              <a:rPr dirty="0" sz="2050" spc="22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464646"/>
                </a:solidFill>
                <a:latin typeface="Arial MT"/>
                <a:cs typeface="Arial MT"/>
              </a:rPr>
              <a:t>difficulty</a:t>
            </a:r>
            <a:r>
              <a:rPr dirty="0" sz="2050" spc="33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3D3D3D"/>
                </a:solidFill>
                <a:latin typeface="Arial MT"/>
                <a:cs typeface="Arial MT"/>
              </a:rPr>
              <a:t>on-the-</a:t>
            </a:r>
            <a:r>
              <a:rPr dirty="0" sz="2050" spc="-20">
                <a:solidFill>
                  <a:srgbClr val="3D3D3D"/>
                </a:solidFill>
                <a:latin typeface="Arial MT"/>
                <a:cs typeface="Arial MT"/>
              </a:rPr>
              <a:t>fly.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25196" y="7913760"/>
            <a:ext cx="6374765" cy="11938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623570">
              <a:lnSpc>
                <a:spcPts val="1835"/>
              </a:lnSpc>
              <a:spcBef>
                <a:spcPts val="125"/>
              </a:spcBef>
            </a:pPr>
            <a:r>
              <a:rPr dirty="0" sz="2550" spc="204">
                <a:solidFill>
                  <a:srgbClr val="0F0F0F"/>
                </a:solidFill>
                <a:latin typeface="Arial MT"/>
                <a:cs typeface="Arial MT"/>
              </a:rPr>
              <a:t>Predictive</a:t>
            </a:r>
            <a:r>
              <a:rPr dirty="0" sz="2550" spc="26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550" spc="215">
                <a:solidFill>
                  <a:srgbClr val="0F0F0F"/>
                </a:solidFill>
                <a:latin typeface="Arial MT"/>
                <a:cs typeface="Arial MT"/>
              </a:rPr>
              <a:t>Analytics</a:t>
            </a:r>
            <a:endParaRPr sz="2550">
              <a:latin typeface="Arial MT"/>
              <a:cs typeface="Arial MT"/>
            </a:endParaRPr>
          </a:p>
          <a:p>
            <a:pPr marL="1191260" marR="5080" indent="-1179195">
              <a:lnSpc>
                <a:spcPct val="74300"/>
              </a:lnSpc>
              <a:spcBef>
                <a:spcPts val="520"/>
              </a:spcBef>
            </a:pPr>
            <a:r>
              <a:rPr dirty="0" sz="5650" spc="100">
                <a:solidFill>
                  <a:srgbClr val="1C67DD"/>
                </a:solidFill>
                <a:latin typeface="Courier New"/>
                <a:cs typeface="Courier New"/>
              </a:rPr>
              <a:t>l</a:t>
            </a:r>
            <a:r>
              <a:rPr dirty="0" sz="5650" spc="-790">
                <a:solidFill>
                  <a:srgbClr val="1C67DD"/>
                </a:solidFill>
                <a:latin typeface="Courier New"/>
                <a:cs typeface="Courier New"/>
              </a:rPr>
              <a:t>  </a:t>
            </a:r>
            <a:r>
              <a:rPr dirty="0" sz="2200" spc="-75">
                <a:solidFill>
                  <a:srgbClr val="4D4D4D"/>
                </a:solidFill>
                <a:latin typeface="Arial MT"/>
                <a:cs typeface="Arial MT"/>
              </a:rPr>
              <a:t>Visual</a:t>
            </a:r>
            <a:r>
              <a:rPr dirty="0" sz="2200" spc="114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30">
                <a:solidFill>
                  <a:srgbClr val="545454"/>
                </a:solidFill>
                <a:latin typeface="Arial MT"/>
                <a:cs typeface="Arial MT"/>
              </a:rPr>
              <a:t>reporting</a:t>
            </a:r>
            <a:r>
              <a:rPr dirty="0" sz="2200" spc="8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62707E"/>
                </a:solidFill>
                <a:latin typeface="Arial MT"/>
                <a:cs typeface="Arial MT"/>
              </a:rPr>
              <a:t>to</a:t>
            </a:r>
            <a:r>
              <a:rPr dirty="0" sz="2200" spc="-15">
                <a:solidFill>
                  <a:srgbClr val="62707E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4D4D4D"/>
                </a:solidFill>
                <a:latin typeface="Arial MT"/>
                <a:cs typeface="Arial MT"/>
              </a:rPr>
              <a:t>identify</a:t>
            </a:r>
            <a:r>
              <a:rPr dirty="0" sz="2200" spc="11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30">
                <a:solidFill>
                  <a:srgbClr val="4B4B4B"/>
                </a:solidFill>
                <a:latin typeface="Arial MT"/>
                <a:cs typeface="Arial MT"/>
              </a:rPr>
              <a:t>knowledge</a:t>
            </a:r>
            <a:r>
              <a:rPr dirty="0" sz="2200" spc="15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505050"/>
                </a:solidFill>
                <a:latin typeface="Arial MT"/>
                <a:cs typeface="Arial MT"/>
              </a:rPr>
              <a:t>gaps </a:t>
            </a:r>
            <a:r>
              <a:rPr dirty="0" sz="2200" spc="-10">
                <a:solidFill>
                  <a:srgbClr val="4F4F4F"/>
                </a:solidFill>
                <a:latin typeface="Arial MT"/>
                <a:cs typeface="Arial MT"/>
              </a:rPr>
              <a:t>rapidly.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750164" y="1460422"/>
            <a:ext cx="1681480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>
                <a:solidFill>
                  <a:srgbClr val="1C62E4"/>
                </a:solidFill>
                <a:latin typeface="Consolas"/>
                <a:cs typeface="Consolas"/>
              </a:rPr>
              <a:t>09.</a:t>
            </a:r>
            <a:r>
              <a:rPr dirty="0" sz="2200" spc="-630">
                <a:solidFill>
                  <a:srgbClr val="1C62E4"/>
                </a:solidFill>
                <a:latin typeface="Consolas"/>
                <a:cs typeface="Consolas"/>
              </a:rPr>
              <a:t> </a:t>
            </a:r>
            <a:r>
              <a:rPr dirty="0" sz="2200" spc="235">
                <a:solidFill>
                  <a:srgbClr val="335DF0"/>
                </a:solidFill>
                <a:latin typeface="Consolas"/>
                <a:cs typeface="Consolas"/>
              </a:rPr>
              <a:t>OUTPUT</a:t>
            </a:r>
            <a:endParaRPr sz="2200">
              <a:latin typeface="Consolas"/>
              <a:cs typeface="Consola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738273" y="1874022"/>
            <a:ext cx="3968115" cy="6737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50" spc="-70">
                <a:solidFill>
                  <a:srgbClr val="131313"/>
                </a:solidFill>
              </a:rPr>
              <a:t>Live</a:t>
            </a:r>
            <a:r>
              <a:rPr dirty="0" sz="4250" spc="-215">
                <a:solidFill>
                  <a:srgbClr val="131313"/>
                </a:solidFill>
              </a:rPr>
              <a:t> </a:t>
            </a:r>
            <a:r>
              <a:rPr dirty="0" sz="4250" spc="-35">
                <a:solidFill>
                  <a:srgbClr val="0F0F0F"/>
                </a:solidFill>
              </a:rPr>
              <a:t>Dashboards</a:t>
            </a:r>
            <a:endParaRPr sz="4250"/>
          </a:p>
        </p:txBody>
      </p:sp>
      <p:sp>
        <p:nvSpPr>
          <p:cNvPr id="5" name="object 5"/>
          <p:cNvSpPr txBox="1"/>
          <p:nvPr/>
        </p:nvSpPr>
        <p:spPr>
          <a:xfrm>
            <a:off x="1746818" y="2716274"/>
            <a:ext cx="3825875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-25">
                <a:solidFill>
                  <a:srgbClr val="4B4B4B"/>
                </a:solidFill>
                <a:latin typeface="Arial MT"/>
                <a:cs typeface="Arial MT"/>
              </a:rPr>
              <a:t>Real-</a:t>
            </a:r>
            <a:r>
              <a:rPr dirty="0" sz="2300">
                <a:solidFill>
                  <a:srgbClr val="4B4B4B"/>
                </a:solidFill>
                <a:latin typeface="Arial MT"/>
                <a:cs typeface="Arial MT"/>
              </a:rPr>
              <a:t>time</a:t>
            </a:r>
            <a:r>
              <a:rPr dirty="0" sz="2300" spc="24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B4B4B"/>
                </a:solidFill>
                <a:latin typeface="Arial MT"/>
                <a:cs typeface="Arial MT"/>
              </a:rPr>
              <a:t>analytical</a:t>
            </a:r>
            <a:r>
              <a:rPr dirty="0" sz="2300" spc="10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444444"/>
                </a:solidFill>
                <a:latin typeface="Arial MT"/>
                <a:cs typeface="Arial MT"/>
              </a:rPr>
              <a:t>insights.</a:t>
            </a:r>
            <a:endParaRPr sz="2300">
              <a:latin typeface="Arial MT"/>
              <a:cs typeface="Arial MT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39878" y="10829513"/>
            <a:ext cx="5049584" cy="4790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7925" y="1209121"/>
            <a:ext cx="2609215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55">
                <a:solidFill>
                  <a:srgbClr val="1D67EB"/>
                </a:solidFill>
                <a:latin typeface="Arial MT"/>
                <a:cs typeface="Arial MT"/>
              </a:rPr>
              <a:t>10.</a:t>
            </a:r>
            <a:r>
              <a:rPr dirty="0" sz="2200" spc="-90">
                <a:solidFill>
                  <a:srgbClr val="1D67EB"/>
                </a:solidFill>
                <a:latin typeface="Arial MT"/>
                <a:cs typeface="Arial MT"/>
              </a:rPr>
              <a:t> </a:t>
            </a:r>
            <a:r>
              <a:rPr dirty="0" sz="2200" spc="-30">
                <a:solidFill>
                  <a:srgbClr val="3162E6"/>
                </a:solidFill>
                <a:latin typeface="Arial MT"/>
                <a:cs typeface="Arial MT"/>
              </a:rPr>
              <a:t>FUTURE</a:t>
            </a:r>
            <a:r>
              <a:rPr dirty="0" sz="2200" spc="180">
                <a:solidFill>
                  <a:srgbClr val="3162E6"/>
                </a:solidFill>
                <a:latin typeface="Arial MT"/>
                <a:cs typeface="Arial MT"/>
              </a:rPr>
              <a:t> </a:t>
            </a:r>
            <a:r>
              <a:rPr dirty="0" sz="2200" spc="-125">
                <a:solidFill>
                  <a:srgbClr val="265BD8"/>
                </a:solidFill>
                <a:latin typeface="Arial MT"/>
                <a:cs typeface="Arial MT"/>
              </a:rPr>
              <a:t>SCOPE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pc="175">
                <a:solidFill>
                  <a:srgbClr val="161616"/>
                </a:solidFill>
              </a:rPr>
              <a:t>Next</a:t>
            </a:r>
            <a:r>
              <a:rPr dirty="0" spc="-25">
                <a:solidFill>
                  <a:srgbClr val="161616"/>
                </a:solidFill>
              </a:rPr>
              <a:t> </a:t>
            </a:r>
            <a:r>
              <a:rPr dirty="0" spc="235"/>
              <a:t>Iterations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01031" y="3589284"/>
            <a:ext cx="4645025" cy="575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spc="-180">
                <a:solidFill>
                  <a:srgbClr val="131313"/>
                </a:solidFill>
                <a:latin typeface="Arial MT"/>
                <a:cs typeface="Arial MT"/>
              </a:rPr>
              <a:t>AI</a:t>
            </a:r>
            <a:r>
              <a:rPr dirty="0" sz="3600" spc="-16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3600" spc="85">
                <a:solidFill>
                  <a:srgbClr val="131313"/>
                </a:solidFill>
                <a:latin typeface="Arial MT"/>
                <a:cs typeface="Arial MT"/>
              </a:rPr>
              <a:t>Content</a:t>
            </a:r>
            <a:r>
              <a:rPr dirty="0" sz="3600" spc="22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3600" spc="-10">
                <a:solidFill>
                  <a:srgbClr val="111111"/>
                </a:solidFill>
                <a:latin typeface="Arial MT"/>
                <a:cs typeface="Arial MT"/>
              </a:rPr>
              <a:t>Generation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34362" y="3622005"/>
            <a:ext cx="3441700" cy="535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50" spc="155">
                <a:solidFill>
                  <a:srgbClr val="111111"/>
                </a:solidFill>
                <a:latin typeface="Arial MT"/>
                <a:cs typeface="Arial MT"/>
              </a:rPr>
              <a:t>Predictive</a:t>
            </a:r>
            <a:r>
              <a:rPr dirty="0" sz="3350" spc="17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3350" spc="140">
                <a:solidFill>
                  <a:srgbClr val="0F0F0F"/>
                </a:solidFill>
                <a:latin typeface="Arial MT"/>
                <a:cs typeface="Arial MT"/>
              </a:rPr>
              <a:t>Paths</a:t>
            </a:r>
            <a:endParaRPr sz="33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479664" y="3629859"/>
            <a:ext cx="4439920" cy="535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50" spc="160">
                <a:solidFill>
                  <a:srgbClr val="111111"/>
                </a:solidFill>
                <a:latin typeface="Arial MT"/>
                <a:cs typeface="Arial MT"/>
              </a:rPr>
              <a:t>Advanced</a:t>
            </a:r>
            <a:r>
              <a:rPr dirty="0" sz="3350" spc="2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3350" spc="195">
                <a:solidFill>
                  <a:srgbClr val="0A0A0A"/>
                </a:solidFill>
                <a:latin typeface="Arial MT"/>
                <a:cs typeface="Arial MT"/>
              </a:rPr>
              <a:t>Proctoring</a:t>
            </a:r>
            <a:endParaRPr sz="33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0863" y="4787546"/>
            <a:ext cx="5276215" cy="8083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229"/>
              </a:lnSpc>
              <a:spcBef>
                <a:spcPts val="105"/>
              </a:spcBef>
            </a:pPr>
            <a:r>
              <a:rPr dirty="0" sz="2700" spc="-10">
                <a:solidFill>
                  <a:srgbClr val="444444"/>
                </a:solidFill>
                <a:latin typeface="Arial MT"/>
                <a:cs typeface="Arial MT"/>
              </a:rPr>
              <a:t>Automated</a:t>
            </a:r>
            <a:r>
              <a:rPr dirty="0" sz="2700" spc="-3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3D3D3D"/>
                </a:solidFill>
                <a:latin typeface="Arial MT"/>
                <a:cs typeface="Arial MT"/>
              </a:rPr>
              <a:t>question</a:t>
            </a:r>
            <a:r>
              <a:rPr dirty="0" sz="2700" spc="-45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3D3D3D"/>
                </a:solidFill>
                <a:latin typeface="Arial MT"/>
                <a:cs typeface="Arial MT"/>
              </a:rPr>
              <a:t>creation</a:t>
            </a:r>
            <a:r>
              <a:rPr dirty="0" sz="2700" spc="-6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4F4F4F"/>
                </a:solidFill>
                <a:latin typeface="Arial MT"/>
                <a:cs typeface="Arial MT"/>
              </a:rPr>
              <a:t>using</a:t>
            </a:r>
            <a:endParaRPr sz="2700">
              <a:latin typeface="Arial MT"/>
              <a:cs typeface="Arial MT"/>
            </a:endParaRPr>
          </a:p>
          <a:p>
            <a:pPr marL="12700">
              <a:lnSpc>
                <a:spcPts val="2930"/>
              </a:lnSpc>
            </a:pPr>
            <a:r>
              <a:rPr dirty="0" sz="2450" spc="-10">
                <a:solidFill>
                  <a:srgbClr val="424242"/>
                </a:solidFill>
                <a:latin typeface="Arial MT"/>
                <a:cs typeface="Arial MT"/>
              </a:rPr>
              <a:t>LLMs.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42215" y="4787546"/>
            <a:ext cx="501269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>
                <a:solidFill>
                  <a:srgbClr val="464646"/>
                </a:solidFill>
                <a:latin typeface="Arial MT"/>
                <a:cs typeface="Arial MT"/>
              </a:rPr>
              <a:t>Custom</a:t>
            </a:r>
            <a:r>
              <a:rPr dirty="0" sz="2700" spc="6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505050"/>
                </a:solidFill>
                <a:latin typeface="Arial MT"/>
                <a:cs typeface="Arial MT"/>
              </a:rPr>
              <a:t>study</a:t>
            </a:r>
            <a:r>
              <a:rPr dirty="0" sz="2700" spc="-8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444444"/>
                </a:solidFill>
                <a:latin typeface="Arial MT"/>
                <a:cs typeface="Arial MT"/>
              </a:rPr>
              <a:t>recommendations.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477599" y="4803907"/>
            <a:ext cx="5109845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>
                <a:solidFill>
                  <a:srgbClr val="464646"/>
                </a:solidFill>
                <a:latin typeface="Arial MT"/>
                <a:cs typeface="Arial MT"/>
              </a:rPr>
              <a:t>Vision-based</a:t>
            </a:r>
            <a:r>
              <a:rPr dirty="0" sz="2550" spc="61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550" spc="65">
                <a:solidFill>
                  <a:srgbClr val="3B3B3B"/>
                </a:solidFill>
                <a:latin typeface="Arial MT"/>
                <a:cs typeface="Arial MT"/>
              </a:rPr>
              <a:t>integrity</a:t>
            </a:r>
            <a:r>
              <a:rPr dirty="0" sz="2550" spc="434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2550" spc="40">
                <a:solidFill>
                  <a:srgbClr val="464646"/>
                </a:solidFill>
                <a:latin typeface="Arial MT"/>
                <a:cs typeface="Arial MT"/>
              </a:rPr>
              <a:t>monitoring.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706" y="2308830"/>
            <a:ext cx="20088860" cy="220345"/>
            <a:chOff x="15706" y="2308830"/>
            <a:chExt cx="20088860" cy="2203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2308830"/>
              <a:ext cx="20088393" cy="21988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2308830"/>
              <a:ext cx="20088393" cy="219888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15706" y="3266916"/>
            <a:ext cx="20080605" cy="840740"/>
          </a:xfrm>
          <a:custGeom>
            <a:avLst/>
            <a:gdLst/>
            <a:ahLst/>
            <a:cxnLst/>
            <a:rect l="l" t="t" r="r" b="b"/>
            <a:pathLst>
              <a:path w="20080605" h="840739">
                <a:moveTo>
                  <a:pt x="20080541" y="840288"/>
                </a:moveTo>
                <a:lnTo>
                  <a:pt x="0" y="84028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840288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256302" y="2981973"/>
            <a:ext cx="13446760" cy="112522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7200" spc="65">
                <a:solidFill>
                  <a:srgbClr val="FFFFFF"/>
                </a:solidFill>
              </a:rPr>
              <a:t>Transforming</a:t>
            </a:r>
            <a:r>
              <a:rPr dirty="0" sz="7200" spc="760">
                <a:solidFill>
                  <a:srgbClr val="FFFFFF"/>
                </a:solidFill>
              </a:rPr>
              <a:t> </a:t>
            </a:r>
            <a:r>
              <a:rPr dirty="0" sz="7200" spc="360">
                <a:solidFill>
                  <a:srgbClr val="FFFFFF"/>
                </a:solidFill>
              </a:rPr>
              <a:t>static</a:t>
            </a:r>
            <a:r>
              <a:rPr dirty="0" sz="7200" spc="155">
                <a:solidFill>
                  <a:srgbClr val="FFFFFF"/>
                </a:solidFill>
              </a:rPr>
              <a:t> </a:t>
            </a:r>
            <a:r>
              <a:rPr dirty="0" sz="7200" spc="-10">
                <a:solidFill>
                  <a:srgbClr val="FFFFFF"/>
                </a:solidFill>
              </a:rPr>
              <a:t>assessment</a:t>
            </a:r>
            <a:endParaRPr sz="7200"/>
          </a:p>
        </p:txBody>
      </p:sp>
      <p:sp>
        <p:nvSpPr>
          <p:cNvPr id="7" name="object 7"/>
          <p:cNvSpPr/>
          <p:nvPr/>
        </p:nvSpPr>
        <p:spPr>
          <a:xfrm>
            <a:off x="15706" y="4319240"/>
            <a:ext cx="20080605" cy="840740"/>
          </a:xfrm>
          <a:custGeom>
            <a:avLst/>
            <a:gdLst/>
            <a:ahLst/>
            <a:cxnLst/>
            <a:rect l="l" t="t" r="r" b="b"/>
            <a:pathLst>
              <a:path w="20080605" h="840739">
                <a:moveTo>
                  <a:pt x="20080541" y="840288"/>
                </a:moveTo>
                <a:lnTo>
                  <a:pt x="0" y="84028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840288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706" y="5387270"/>
            <a:ext cx="20080605" cy="840740"/>
          </a:xfrm>
          <a:custGeom>
            <a:avLst/>
            <a:gdLst/>
            <a:ahLst/>
            <a:cxnLst/>
            <a:rect l="l" t="t" r="r" b="b"/>
            <a:pathLst>
              <a:path w="20080605" h="840739">
                <a:moveTo>
                  <a:pt x="20080541" y="840288"/>
                </a:moveTo>
                <a:lnTo>
                  <a:pt x="0" y="84028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840288"/>
                </a:lnTo>
                <a:close/>
              </a:path>
            </a:pathLst>
          </a:custGeom>
          <a:solidFill>
            <a:srgbClr val="1616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303318" y="4034297"/>
            <a:ext cx="13401675" cy="219329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3132455" marR="5080" indent="-3120390">
              <a:lnSpc>
                <a:spcPts val="8410"/>
              </a:lnSpc>
              <a:spcBef>
                <a:spcPts val="445"/>
              </a:spcBef>
            </a:pPr>
            <a:r>
              <a:rPr dirty="0" sz="7200" spc="430">
                <a:solidFill>
                  <a:srgbClr val="FFFFFF"/>
                </a:solidFill>
                <a:latin typeface="Arial MT"/>
                <a:cs typeface="Arial MT"/>
              </a:rPr>
              <a:t>into</a:t>
            </a:r>
            <a:r>
              <a:rPr dirty="0" sz="7200" spc="-1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200" spc="75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dirty="0" sz="7200" spc="-2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200" spc="310">
                <a:solidFill>
                  <a:srgbClr val="FFFFFF"/>
                </a:solidFill>
                <a:latin typeface="Arial MT"/>
                <a:cs typeface="Arial MT"/>
              </a:rPr>
              <a:t>intelligent,</a:t>
            </a:r>
            <a:r>
              <a:rPr dirty="0" sz="7200" spc="-2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200" spc="85">
                <a:solidFill>
                  <a:srgbClr val="FFFFFF"/>
                </a:solidFill>
                <a:latin typeface="Arial MT"/>
                <a:cs typeface="Arial MT"/>
              </a:rPr>
              <a:t>personalized </a:t>
            </a:r>
            <a:r>
              <a:rPr dirty="0" sz="7200" spc="155">
                <a:solidFill>
                  <a:srgbClr val="FFFFFF"/>
                </a:solidFill>
                <a:latin typeface="Arial MT"/>
                <a:cs typeface="Arial MT"/>
              </a:rPr>
              <a:t>learning</a:t>
            </a:r>
            <a:r>
              <a:rPr dirty="0" sz="7200" spc="3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200" spc="140">
                <a:solidFill>
                  <a:srgbClr val="FFFFFF"/>
                </a:solidFill>
                <a:latin typeface="Arial MT"/>
                <a:cs typeface="Arial MT"/>
              </a:rPr>
              <a:t>journeg.</a:t>
            </a:r>
            <a:endParaRPr sz="72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706" y="7743219"/>
            <a:ext cx="20080605" cy="384810"/>
          </a:xfrm>
          <a:custGeom>
            <a:avLst/>
            <a:gdLst/>
            <a:ahLst/>
            <a:cxnLst/>
            <a:rect l="l" t="t" r="r" b="b"/>
            <a:pathLst>
              <a:path w="20080605" h="384809">
                <a:moveTo>
                  <a:pt x="20080541" y="384805"/>
                </a:moveTo>
                <a:lnTo>
                  <a:pt x="0" y="38480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84805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706" y="8198703"/>
            <a:ext cx="20080605" cy="384810"/>
          </a:xfrm>
          <a:custGeom>
            <a:avLst/>
            <a:gdLst/>
            <a:ahLst/>
            <a:cxnLst/>
            <a:rect l="l" t="t" r="r" b="b"/>
            <a:pathLst>
              <a:path w="20080605" h="384809">
                <a:moveTo>
                  <a:pt x="20080541" y="384805"/>
                </a:moveTo>
                <a:lnTo>
                  <a:pt x="0" y="38480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84805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706" y="8685599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315116" y="7595706"/>
            <a:ext cx="9429115" cy="144716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algn="ctr" marL="12065" marR="5080" indent="21590">
              <a:lnSpc>
                <a:spcPts val="3590"/>
              </a:lnSpc>
              <a:spcBef>
                <a:spcPts val="575"/>
              </a:spcBef>
            </a:pPr>
            <a:r>
              <a:rPr dirty="0" sz="3350" spc="-105">
                <a:solidFill>
                  <a:srgbClr val="525974"/>
                </a:solidFill>
                <a:latin typeface="Arial MT"/>
                <a:cs typeface="Arial MT"/>
              </a:rPr>
              <a:t>Adaptive</a:t>
            </a:r>
            <a:r>
              <a:rPr dirty="0" sz="3350" spc="-70">
                <a:solidFill>
                  <a:srgbClr val="525974"/>
                </a:solidFill>
                <a:latin typeface="Arial MT"/>
                <a:cs typeface="Arial MT"/>
              </a:rPr>
              <a:t> </a:t>
            </a:r>
            <a:r>
              <a:rPr dirty="0" sz="3350" spc="-20">
                <a:solidFill>
                  <a:srgbClr val="A3A3A3"/>
                </a:solidFill>
                <a:latin typeface="Arial MT"/>
                <a:cs typeface="Arial MT"/>
              </a:rPr>
              <a:t>testing</a:t>
            </a:r>
            <a:r>
              <a:rPr dirty="0" sz="3350" spc="-85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3350" spc="-125">
                <a:solidFill>
                  <a:srgbClr val="A0A0A0"/>
                </a:solidFill>
                <a:latin typeface="Arial MT"/>
                <a:cs typeface="Arial MT"/>
              </a:rPr>
              <a:t>guarantees</a:t>
            </a:r>
            <a:r>
              <a:rPr dirty="0" sz="3350" spc="65">
                <a:solidFill>
                  <a:srgbClr val="A0A0A0"/>
                </a:solidFill>
                <a:latin typeface="Arial MT"/>
                <a:cs typeface="Arial MT"/>
              </a:rPr>
              <a:t> </a:t>
            </a:r>
            <a:r>
              <a:rPr dirty="0" sz="3350" spc="-45">
                <a:solidFill>
                  <a:srgbClr val="A3A3A3"/>
                </a:solidFill>
                <a:latin typeface="Arial MT"/>
                <a:cs typeface="Arial MT"/>
              </a:rPr>
              <a:t>precise</a:t>
            </a:r>
            <a:r>
              <a:rPr dirty="0" sz="3350" spc="-70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3350" spc="-35">
                <a:solidFill>
                  <a:srgbClr val="A3A3A3"/>
                </a:solidFill>
                <a:latin typeface="Arial MT"/>
                <a:cs typeface="Arial MT"/>
              </a:rPr>
              <a:t>skill</a:t>
            </a:r>
            <a:r>
              <a:rPr dirty="0" sz="3350" spc="-170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3350" spc="-30">
                <a:solidFill>
                  <a:srgbClr val="A1A1A1"/>
                </a:solidFill>
                <a:latin typeface="Arial MT"/>
                <a:cs typeface="Arial MT"/>
              </a:rPr>
              <a:t>evaluation, </a:t>
            </a:r>
            <a:r>
              <a:rPr dirty="0" sz="3350" spc="-130">
                <a:solidFill>
                  <a:srgbClr val="A7A7A7"/>
                </a:solidFill>
                <a:latin typeface="Arial MT"/>
                <a:cs typeface="Arial MT"/>
              </a:rPr>
              <a:t>maximizes</a:t>
            </a:r>
            <a:r>
              <a:rPr dirty="0" sz="3350">
                <a:solidFill>
                  <a:srgbClr val="A7A7A7"/>
                </a:solidFill>
                <a:latin typeface="Arial MT"/>
                <a:cs typeface="Arial MT"/>
              </a:rPr>
              <a:t> </a:t>
            </a:r>
            <a:r>
              <a:rPr dirty="0" sz="3350" spc="-110">
                <a:solidFill>
                  <a:srgbClr val="A1A1A1"/>
                </a:solidFill>
                <a:latin typeface="Arial MT"/>
                <a:cs typeface="Arial MT"/>
              </a:rPr>
              <a:t>engagement,</a:t>
            </a:r>
            <a:r>
              <a:rPr dirty="0" sz="3350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3350" spc="-125">
                <a:solidFill>
                  <a:srgbClr val="576477"/>
                </a:solidFill>
                <a:latin typeface="Arial MT"/>
                <a:cs typeface="Arial MT"/>
              </a:rPr>
              <a:t>and</a:t>
            </a:r>
            <a:r>
              <a:rPr dirty="0" sz="3350" spc="-105">
                <a:solidFill>
                  <a:srgbClr val="576477"/>
                </a:solidFill>
                <a:latin typeface="Arial MT"/>
                <a:cs typeface="Arial MT"/>
              </a:rPr>
              <a:t> </a:t>
            </a:r>
            <a:r>
              <a:rPr dirty="0" sz="3350" spc="-75">
                <a:solidFill>
                  <a:srgbClr val="4F5969"/>
                </a:solidFill>
                <a:latin typeface="Arial MT"/>
                <a:cs typeface="Arial MT"/>
              </a:rPr>
              <a:t>accelerates</a:t>
            </a:r>
            <a:r>
              <a:rPr dirty="0" sz="3350" spc="-45">
                <a:solidFill>
                  <a:srgbClr val="4F5969"/>
                </a:solidFill>
                <a:latin typeface="Arial MT"/>
                <a:cs typeface="Arial MT"/>
              </a:rPr>
              <a:t> </a:t>
            </a:r>
            <a:r>
              <a:rPr dirty="0" sz="3350" spc="-114">
                <a:solidFill>
                  <a:srgbClr val="A1A1A1"/>
                </a:solidFill>
                <a:latin typeface="Arial MT"/>
                <a:cs typeface="Arial MT"/>
              </a:rPr>
              <a:t>educational </a:t>
            </a:r>
            <a:r>
              <a:rPr dirty="0" sz="3350" spc="-25">
                <a:solidFill>
                  <a:srgbClr val="939CAF"/>
                </a:solidFill>
                <a:latin typeface="Arial MT"/>
                <a:cs typeface="Arial MT"/>
              </a:rPr>
              <a:t>outcomes.</a:t>
            </a:r>
            <a:endParaRPr sz="3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5730" rIns="0" bIns="0" rtlCol="0" vert="horz">
            <a:spAutoFit/>
          </a:bodyPr>
          <a:lstStyle/>
          <a:p>
            <a:pPr marL="2639695">
              <a:lnSpc>
                <a:spcPct val="100000"/>
              </a:lnSpc>
              <a:spcBef>
                <a:spcPts val="990"/>
              </a:spcBef>
            </a:pPr>
            <a:r>
              <a:rPr dirty="0" sz="4250">
                <a:solidFill>
                  <a:srgbClr val="1860CC"/>
                </a:solidFill>
                <a:latin typeface="Trebuchet MS"/>
                <a:cs typeface="Trebuchet MS"/>
              </a:rPr>
              <a:t>12.</a:t>
            </a:r>
            <a:r>
              <a:rPr dirty="0" sz="4250" spc="30">
                <a:solidFill>
                  <a:srgbClr val="1860CC"/>
                </a:solidFill>
                <a:latin typeface="Trebuchet MS"/>
                <a:cs typeface="Trebuchet MS"/>
              </a:rPr>
              <a:t>  </a:t>
            </a:r>
            <a:r>
              <a:rPr dirty="0" sz="4250">
                <a:solidFill>
                  <a:srgbClr val="186BEB"/>
                </a:solidFill>
                <a:latin typeface="Trebuchet MS"/>
                <a:cs typeface="Trebuchet MS"/>
              </a:rPr>
              <a:t>TH</a:t>
            </a:r>
            <a:r>
              <a:rPr dirty="0" sz="4250" spc="145">
                <a:solidFill>
                  <a:srgbClr val="186BEB"/>
                </a:solidFill>
                <a:latin typeface="Trebuchet MS"/>
                <a:cs typeface="Trebuchet MS"/>
              </a:rPr>
              <a:t> </a:t>
            </a:r>
            <a:r>
              <a:rPr dirty="0" sz="4250">
                <a:solidFill>
                  <a:srgbClr val="1C69EF"/>
                </a:solidFill>
                <a:latin typeface="Trebuchet MS"/>
                <a:cs typeface="Trebuchet MS"/>
              </a:rPr>
              <a:t>AN</a:t>
            </a:r>
            <a:r>
              <a:rPr dirty="0" sz="4250" spc="305">
                <a:solidFill>
                  <a:srgbClr val="1C69EF"/>
                </a:solidFill>
                <a:latin typeface="Trebuchet MS"/>
                <a:cs typeface="Trebuchet MS"/>
              </a:rPr>
              <a:t> </a:t>
            </a:r>
            <a:r>
              <a:rPr dirty="0" sz="4250">
                <a:solidFill>
                  <a:srgbClr val="1567E8"/>
                </a:solidFill>
                <a:latin typeface="Trebuchet MS"/>
                <a:cs typeface="Trebuchet MS"/>
              </a:rPr>
              <a:t>K</a:t>
            </a:r>
            <a:r>
              <a:rPr dirty="0" sz="4250" spc="985">
                <a:solidFill>
                  <a:srgbClr val="1567E8"/>
                </a:solidFill>
                <a:latin typeface="Trebuchet MS"/>
                <a:cs typeface="Trebuchet MS"/>
              </a:rPr>
              <a:t> </a:t>
            </a:r>
            <a:r>
              <a:rPr dirty="0" sz="4250">
                <a:solidFill>
                  <a:srgbClr val="1D66DB"/>
                </a:solidFill>
                <a:latin typeface="Trebuchet MS"/>
                <a:cs typeface="Trebuchet MS"/>
              </a:rPr>
              <a:t>YO</a:t>
            </a:r>
            <a:r>
              <a:rPr dirty="0" sz="4250" spc="165">
                <a:solidFill>
                  <a:srgbClr val="1D66DB"/>
                </a:solidFill>
                <a:latin typeface="Trebuchet MS"/>
                <a:cs typeface="Trebuchet MS"/>
              </a:rPr>
              <a:t> </a:t>
            </a:r>
            <a:r>
              <a:rPr dirty="0" sz="4250" spc="170">
                <a:solidFill>
                  <a:srgbClr val="2164E6"/>
                </a:solidFill>
                <a:latin typeface="Trebuchet MS"/>
                <a:cs typeface="Trebuchet MS"/>
              </a:rPr>
              <a:t>U</a:t>
            </a:r>
            <a:endParaRPr sz="42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dirty="0" sz="8250" spc="195">
                <a:solidFill>
                  <a:srgbClr val="181818"/>
                </a:solidFill>
              </a:rPr>
              <a:t>guestions</a:t>
            </a:r>
            <a:r>
              <a:rPr dirty="0" sz="8250" spc="405">
                <a:solidFill>
                  <a:srgbClr val="181818"/>
                </a:solidFill>
              </a:rPr>
              <a:t> </a:t>
            </a:r>
            <a:r>
              <a:rPr dirty="0" sz="8250" spc="-880">
                <a:solidFill>
                  <a:srgbClr val="1A1A1A"/>
                </a:solidFill>
              </a:rPr>
              <a:t>&amp;</a:t>
            </a:r>
            <a:r>
              <a:rPr dirty="0" sz="8250" spc="-165">
                <a:solidFill>
                  <a:srgbClr val="1A1A1A"/>
                </a:solidFill>
              </a:rPr>
              <a:t> </a:t>
            </a:r>
            <a:r>
              <a:rPr dirty="0" sz="8250" spc="-10">
                <a:solidFill>
                  <a:srgbClr val="161616"/>
                </a:solidFill>
              </a:rPr>
              <a:t>Answers</a:t>
            </a:r>
            <a:endParaRPr sz="8250"/>
          </a:p>
        </p:txBody>
      </p:sp>
      <p:sp>
        <p:nvSpPr>
          <p:cNvPr id="3" name="object 3"/>
          <p:cNvSpPr txBox="1"/>
          <p:nvPr/>
        </p:nvSpPr>
        <p:spPr>
          <a:xfrm>
            <a:off x="5558853" y="6672305"/>
            <a:ext cx="895858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60">
                <a:solidFill>
                  <a:srgbClr val="565656"/>
                </a:solidFill>
                <a:latin typeface="Arial MT"/>
                <a:cs typeface="Arial MT"/>
              </a:rPr>
              <a:t>We</a:t>
            </a:r>
            <a:r>
              <a:rPr dirty="0" sz="2700" spc="-7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F5D72"/>
                </a:solidFill>
                <a:latin typeface="Arial MT"/>
                <a:cs typeface="Arial MT"/>
              </a:rPr>
              <a:t>are</a:t>
            </a:r>
            <a:r>
              <a:rPr dirty="0" sz="2700" spc="-55">
                <a:solidFill>
                  <a:srgbClr val="4F5D72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D4D4D"/>
                </a:solidFill>
                <a:latin typeface="Arial MT"/>
                <a:cs typeface="Arial MT"/>
              </a:rPr>
              <a:t>open</a:t>
            </a:r>
            <a:r>
              <a:rPr dirty="0" sz="2700" spc="-8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385B77"/>
                </a:solidFill>
                <a:latin typeface="Arial MT"/>
                <a:cs typeface="Arial MT"/>
              </a:rPr>
              <a:t>for</a:t>
            </a:r>
            <a:r>
              <a:rPr dirty="0" sz="2700" spc="-30">
                <a:solidFill>
                  <a:srgbClr val="385B77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94949"/>
                </a:solidFill>
                <a:latin typeface="Arial MT"/>
                <a:cs typeface="Arial MT"/>
              </a:rPr>
              <a:t>any</a:t>
            </a:r>
            <a:r>
              <a:rPr dirty="0" sz="2700" spc="-9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84848"/>
                </a:solidFill>
                <a:latin typeface="Arial MT"/>
                <a:cs typeface="Arial MT"/>
              </a:rPr>
              <a:t>queries </a:t>
            </a:r>
            <a:r>
              <a:rPr dirty="0" sz="2700" spc="-10">
                <a:solidFill>
                  <a:srgbClr val="4B4B4B"/>
                </a:solidFill>
                <a:latin typeface="Arial MT"/>
                <a:cs typeface="Arial MT"/>
              </a:rPr>
              <a:t>regarding</a:t>
            </a:r>
            <a:r>
              <a:rPr dirty="0" sz="2700" spc="2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64646"/>
                </a:solidFill>
                <a:latin typeface="Arial MT"/>
                <a:cs typeface="Arial MT"/>
              </a:rPr>
              <a:t>the</a:t>
            </a:r>
            <a:r>
              <a:rPr dirty="0" sz="2700" spc="-9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700" spc="-30">
                <a:solidFill>
                  <a:srgbClr val="494949"/>
                </a:solidFill>
                <a:latin typeface="Arial MT"/>
                <a:cs typeface="Arial MT"/>
              </a:rPr>
              <a:t>adaptive</a:t>
            </a:r>
            <a:r>
              <a:rPr dirty="0" sz="2700" spc="2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484848"/>
                </a:solidFill>
                <a:latin typeface="Arial MT"/>
                <a:cs typeface="Arial MT"/>
              </a:rPr>
              <a:t>engine.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918143" y="930334"/>
            <a:ext cx="2712720" cy="47752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75">
                <a:solidFill>
                  <a:srgbClr val="000000"/>
                </a:solidFill>
              </a:rPr>
              <a:t>Image</a:t>
            </a:r>
            <a:r>
              <a:rPr dirty="0" sz="2950" spc="-35">
                <a:solidFill>
                  <a:srgbClr val="000000"/>
                </a:solidFill>
              </a:rPr>
              <a:t> </a:t>
            </a:r>
            <a:r>
              <a:rPr dirty="0" sz="2950" spc="110">
                <a:solidFill>
                  <a:srgbClr val="000000"/>
                </a:solidFill>
              </a:rPr>
              <a:t>Sources</a:t>
            </a:r>
            <a:endParaRPr sz="2950"/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6673" y="1649164"/>
            <a:ext cx="1444982" cy="81672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737592" y="1693364"/>
            <a:ext cx="4810760" cy="70294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1650" spc="-10">
                <a:latin typeface="Arial MT"/>
                <a:cs typeface="Arial MT"/>
                <a:hlinkClick r:id="rId11"/>
              </a:rPr>
              <a:t>https://www.lovemytest.com/images/howit4a.jpg</a:t>
            </a:r>
            <a:endParaRPr sz="165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spcBef>
                <a:spcPts val="340"/>
              </a:spcBef>
            </a:pPr>
            <a:r>
              <a:rPr dirty="0" sz="2300" spc="-114">
                <a:latin typeface="Arial MT"/>
                <a:cs typeface="Arial MT"/>
              </a:rPr>
              <a:t>Source: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 spc="-35">
                <a:solidFill>
                  <a:srgbClr val="5B4BCF"/>
                </a:solidFill>
                <a:latin typeface="Arial MT"/>
                <a:cs typeface="Arial MT"/>
                <a:hlinkClick r:id="rId12"/>
              </a:rPr>
              <a:t>www.lovemytest.com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73792" y="2658296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 h="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2379" y="2937083"/>
            <a:ext cx="463336" cy="753903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42379" y="2937083"/>
            <a:ext cx="1287918" cy="251301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636010" y="3322277"/>
            <a:ext cx="36195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90">
                <a:solidFill>
                  <a:srgbClr val="919191"/>
                </a:solidFill>
                <a:latin typeface="Arial MT"/>
                <a:cs typeface="Arial MT"/>
              </a:rPr>
              <a:t>-</a:t>
            </a:r>
            <a:r>
              <a:rPr dirty="0" sz="2050" spc="-70">
                <a:solidFill>
                  <a:srgbClr val="919191"/>
                </a:solidFill>
                <a:latin typeface="Arial MT"/>
                <a:cs typeface="Arial MT"/>
              </a:rPr>
              <a:t>.</a:t>
            </a:r>
            <a:r>
              <a:rPr dirty="0" sz="2050" spc="-175">
                <a:solidFill>
                  <a:srgbClr val="919191"/>
                </a:solidFill>
                <a:latin typeface="Arial MT"/>
                <a:cs typeface="Arial MT"/>
              </a:rPr>
              <a:t> </a:t>
            </a:r>
            <a:r>
              <a:rPr dirty="0" sz="2050" spc="-60">
                <a:solidFill>
                  <a:srgbClr val="4D7916"/>
                </a:solidFill>
                <a:latin typeface="Arial MT"/>
                <a:cs typeface="Arial MT"/>
              </a:rPr>
              <a:t>¿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36514" y="2917347"/>
            <a:ext cx="9980295" cy="74485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800" spc="-95">
                <a:latin typeface="Arial MT"/>
                <a:cs typeface="Arial MT"/>
                <a:hlinkClick r:id="rId13"/>
              </a:rPr>
              <a:t>https://reaItraining.co.uk/wp/wp</a:t>
            </a:r>
            <a:r>
              <a:rPr dirty="0" sz="1800" spc="-95">
                <a:latin typeface="Arial MT"/>
                <a:cs typeface="Arial MT"/>
              </a:rPr>
              <a:t>—</a:t>
            </a:r>
            <a:r>
              <a:rPr dirty="0" sz="1800" spc="-100">
                <a:latin typeface="Arial MT"/>
                <a:cs typeface="Arial MT"/>
              </a:rPr>
              <a:t>content/uploads/2025/01/Incredible—</a:t>
            </a:r>
            <a:r>
              <a:rPr dirty="0" sz="1800" spc="-145">
                <a:latin typeface="Arial MT"/>
                <a:cs typeface="Arial MT"/>
              </a:rPr>
              <a:t>5—</a:t>
            </a:r>
            <a:r>
              <a:rPr dirty="0" sz="1800" spc="-110">
                <a:latin typeface="Arial MT"/>
                <a:cs typeface="Arial MT"/>
              </a:rPr>
              <a:t>Point—Scale—</a:t>
            </a:r>
            <a:r>
              <a:rPr dirty="0" sz="1800" spc="-120">
                <a:latin typeface="Arial MT"/>
                <a:cs typeface="Arial MT"/>
              </a:rPr>
              <a:t>Examples—</a:t>
            </a:r>
            <a:r>
              <a:rPr dirty="0" sz="1800" spc="-10">
                <a:latin typeface="Arial MT"/>
                <a:cs typeface="Arial MT"/>
              </a:rPr>
              <a:t>1.webp</a:t>
            </a:r>
            <a:endParaRPr sz="1800">
              <a:latin typeface="Arial MT"/>
              <a:cs typeface="Arial MT"/>
            </a:endParaRPr>
          </a:p>
          <a:p>
            <a:pPr marL="15875">
              <a:lnSpc>
                <a:spcPct val="100000"/>
              </a:lnSpc>
              <a:spcBef>
                <a:spcPts val="560"/>
              </a:spcBef>
            </a:pPr>
            <a:r>
              <a:rPr dirty="0" sz="2050">
                <a:latin typeface="Arial MT"/>
                <a:cs typeface="Arial MT"/>
              </a:rPr>
              <a:t>Source:</a:t>
            </a:r>
            <a:r>
              <a:rPr dirty="0" sz="2050" spc="45"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5249C1"/>
                </a:solidFill>
                <a:latin typeface="Arial MT"/>
                <a:cs typeface="Arial MT"/>
              </a:rPr>
              <a:t>realtraining.co.uk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3792" y="3930508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 h="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7751" y="4916080"/>
            <a:ext cx="753903" cy="94237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926673" y="4193589"/>
            <a:ext cx="1445260" cy="817244"/>
            <a:chOff x="926673" y="4193589"/>
            <a:chExt cx="1445260" cy="817244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6673" y="4193589"/>
              <a:ext cx="1444982" cy="65966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6673" y="4193589"/>
              <a:ext cx="1444982" cy="816729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973792" y="5202721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 h="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3680" y="5520774"/>
            <a:ext cx="1162268" cy="58113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73792" y="6474933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 h="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26673" y="6738015"/>
            <a:ext cx="1444982" cy="816729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pc="-65">
                <a:hlinkClick r:id="rId14"/>
              </a:rPr>
              <a:t>https://cdn.arabsstock.com/uploads/images/367687/thumbnail/1759658704tepsfjrh2a</a:t>
            </a:r>
            <a:r>
              <a:rPr dirty="0" spc="-65"/>
              <a:t>—</a:t>
            </a:r>
            <a:r>
              <a:rPr dirty="0" spc="-10"/>
              <a:t>17596587315zuh1.webp</a:t>
            </a:r>
          </a:p>
          <a:p>
            <a:pPr marL="15240">
              <a:lnSpc>
                <a:spcPct val="100000"/>
              </a:lnSpc>
              <a:spcBef>
                <a:spcPts val="409"/>
              </a:spcBef>
            </a:pPr>
            <a:r>
              <a:rPr dirty="0" sz="2200" spc="-60"/>
              <a:t>Source:</a:t>
            </a:r>
            <a:r>
              <a:rPr dirty="0" sz="2200" spc="-95"/>
              <a:t> </a:t>
            </a:r>
            <a:r>
              <a:rPr dirty="0" sz="2200" spc="-10">
                <a:solidFill>
                  <a:srgbClr val="5949C6"/>
                </a:solidFill>
              </a:rPr>
              <a:t>arabsstock.com</a:t>
            </a:r>
            <a:endParaRPr sz="2200"/>
          </a:p>
          <a:p>
            <a:pPr>
              <a:lnSpc>
                <a:spcPct val="100000"/>
              </a:lnSpc>
              <a:spcBef>
                <a:spcPts val="2215"/>
              </a:spcBef>
            </a:pPr>
            <a:endParaRPr sz="2200"/>
          </a:p>
          <a:p>
            <a:pPr marL="12700">
              <a:lnSpc>
                <a:spcPct val="100000"/>
              </a:lnSpc>
            </a:pPr>
            <a:r>
              <a:rPr dirty="0" spc="-60">
                <a:hlinkClick r:id="rId15"/>
              </a:rPr>
              <a:t>https://f1000research-</a:t>
            </a:r>
            <a:r>
              <a:rPr dirty="0" spc="-65">
                <a:hlinkClick r:id="rId15"/>
              </a:rPr>
              <a:t>files.f1000.com/manuscripts/202518/0bb4e00d</a:t>
            </a:r>
            <a:r>
              <a:rPr dirty="0" spc="-65"/>
              <a:t>—fffd—</a:t>
            </a:r>
            <a:r>
              <a:rPr dirty="0" spc="-80"/>
              <a:t>4b79—</a:t>
            </a:r>
            <a:r>
              <a:rPr dirty="0" spc="-65"/>
              <a:t>9c92-</a:t>
            </a:r>
            <a:r>
              <a:rPr dirty="0" spc="-35"/>
              <a:t>d0c85c10e46b_figure1.gif</a:t>
            </a:r>
          </a:p>
          <a:p>
            <a:pPr marL="15240">
              <a:lnSpc>
                <a:spcPct val="100000"/>
              </a:lnSpc>
              <a:spcBef>
                <a:spcPts val="470"/>
              </a:spcBef>
            </a:pPr>
            <a:r>
              <a:rPr dirty="0" sz="2200" spc="-60"/>
              <a:t>Source:</a:t>
            </a:r>
            <a:r>
              <a:rPr dirty="0" sz="2200" spc="-95"/>
              <a:t> </a:t>
            </a:r>
            <a:r>
              <a:rPr dirty="0" sz="2200" spc="-10">
                <a:solidFill>
                  <a:srgbClr val="8282CD"/>
                </a:solidFill>
              </a:rPr>
              <a:t>f1000research.com</a:t>
            </a:r>
            <a:endParaRPr sz="2200"/>
          </a:p>
          <a:p>
            <a:pPr>
              <a:lnSpc>
                <a:spcPct val="100000"/>
              </a:lnSpc>
              <a:spcBef>
                <a:spcPts val="2280"/>
              </a:spcBef>
            </a:pPr>
            <a:endParaRPr sz="2200"/>
          </a:p>
          <a:p>
            <a:pPr marL="12700">
              <a:lnSpc>
                <a:spcPct val="100000"/>
              </a:lnSpc>
            </a:pPr>
            <a:r>
              <a:rPr dirty="0" spc="-55">
                <a:hlinkClick r:id="rId16"/>
              </a:rPr>
              <a:t>https://devbIogs.microsoft.com/java/wp</a:t>
            </a:r>
            <a:r>
              <a:rPr dirty="0" spc="-55"/>
              <a:t>—content/uploads/sites/51/2022/06/springbootdashboard—</a:t>
            </a:r>
            <a:r>
              <a:rPr dirty="0" spc="-10"/>
              <a:t>1.png</a:t>
            </a:r>
          </a:p>
          <a:p>
            <a:pPr marL="15875">
              <a:lnSpc>
                <a:spcPct val="100000"/>
              </a:lnSpc>
              <a:spcBef>
                <a:spcPts val="560"/>
              </a:spcBef>
            </a:pPr>
            <a:r>
              <a:rPr dirty="0" sz="2050"/>
              <a:t>Source:</a:t>
            </a:r>
            <a:r>
              <a:rPr dirty="0" sz="2050" spc="-35"/>
              <a:t>  </a:t>
            </a:r>
            <a:r>
              <a:rPr dirty="0" sz="2050" spc="-10">
                <a:solidFill>
                  <a:srgbClr val="4644C6"/>
                </a:solidFill>
              </a:rPr>
              <a:t>devblogs.microsoft.com</a:t>
            </a:r>
            <a:endParaRPr sz="2050"/>
          </a:p>
        </p:txBody>
      </p:sp>
      <p:sp>
        <p:nvSpPr>
          <p:cNvPr id="3" name="object 3"/>
          <p:cNvSpPr/>
          <p:nvPr/>
        </p:nvSpPr>
        <p:spPr>
          <a:xfrm>
            <a:off x="973792" y="7747146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 h="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760684" y="8066896"/>
            <a:ext cx="26479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C8C8C8"/>
                </a:solidFill>
                <a:latin typeface="Arial MT"/>
                <a:cs typeface="Arial MT"/>
              </a:rPr>
              <a:t>“</a:t>
            </a:r>
            <a:r>
              <a:rPr dirty="0" sz="1800" spc="380">
                <a:solidFill>
                  <a:srgbClr val="C8C8C8"/>
                </a:solidFill>
                <a:latin typeface="Arial MT"/>
                <a:cs typeface="Arial MT"/>
              </a:rPr>
              <a:t> </a:t>
            </a:r>
            <a:r>
              <a:rPr dirty="0" sz="1800" spc="-145">
                <a:solidFill>
                  <a:srgbClr val="A3A3A3"/>
                </a:solidFill>
                <a:latin typeface="Arial MT"/>
                <a:cs typeface="Arial MT"/>
              </a:rPr>
              <a:t>“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065382" y="8355766"/>
            <a:ext cx="227741" cy="447630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2736514" y="8006198"/>
            <a:ext cx="11643360" cy="74485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800" spc="-35">
                <a:latin typeface="Arial MT"/>
                <a:cs typeface="Arial MT"/>
                <a:hlinkClick r:id="rId17"/>
              </a:rPr>
              <a:t>https://cdn.dribbbIe.com/userupIoad/42039150/file/original</a:t>
            </a:r>
            <a:r>
              <a:rPr dirty="0" sz="1800" spc="-35">
                <a:latin typeface="Arial MT"/>
                <a:cs typeface="Arial MT"/>
              </a:rPr>
              <a:t>—</a:t>
            </a:r>
            <a:r>
              <a:rPr dirty="0" sz="1800" spc="-25">
                <a:latin typeface="Arial MT"/>
                <a:cs typeface="Arial MT"/>
              </a:rPr>
              <a:t>468e3fd9c25acd7f1cc53940133f51f5.jpg?resize=400•300</a:t>
            </a:r>
            <a:endParaRPr sz="1800">
              <a:latin typeface="Arial MT"/>
              <a:cs typeface="Arial MT"/>
            </a:endParaRPr>
          </a:p>
          <a:p>
            <a:pPr marL="15875">
              <a:lnSpc>
                <a:spcPct val="100000"/>
              </a:lnSpc>
              <a:spcBef>
                <a:spcPts val="560"/>
              </a:spcBef>
            </a:pPr>
            <a:r>
              <a:rPr dirty="0" sz="2050">
                <a:latin typeface="Arial MT"/>
                <a:cs typeface="Arial MT"/>
              </a:rPr>
              <a:t>Source:</a:t>
            </a:r>
            <a:r>
              <a:rPr dirty="0" sz="2050" spc="45"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4F4BD6"/>
                </a:solidFill>
                <a:latin typeface="Arial MT"/>
                <a:cs typeface="Arial MT"/>
              </a:rPr>
              <a:t>dribbbIe.com</a:t>
            </a:r>
            <a:endParaRPr sz="2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2026-10-01T04:31:17Z</dcterms:created>
  <dcterms:modified xsi:type="dcterms:W3CDTF">2026-10-01T04:31:17Z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2026-09-30T00:00:00Z</vt:filetime>
  </property>
  <property fmtid="{D5CDD505-2E9C-101B-9397-08002B2CF9AE}" pid="4" name="LastSaved">
    <vt:filetime>2026-10-01T00:00:00Z</vt:filetime>
  </property>
</Properties>
</file>